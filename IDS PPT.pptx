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60" r:id="rId2"/>
    <p:sldId id="258" r:id="rId3"/>
    <p:sldId id="262" r:id="rId4"/>
    <p:sldId id="276" r:id="rId5"/>
    <p:sldId id="264" r:id="rId6"/>
    <p:sldId id="279" r:id="rId7"/>
    <p:sldId id="275" r:id="rId8"/>
    <p:sldId id="273" r:id="rId9"/>
    <p:sldId id="280" r:id="rId10"/>
    <p:sldId id="267" r:id="rId11"/>
    <p:sldId id="268" r:id="rId12"/>
    <p:sldId id="282" r:id="rId13"/>
    <p:sldId id="283" r:id="rId14"/>
    <p:sldId id="284" r:id="rId15"/>
    <p:sldId id="269" r:id="rId16"/>
    <p:sldId id="261" r:id="rId17"/>
    <p:sldId id="281" r:id="rId18"/>
    <p:sldId id="272" r:id="rId19"/>
    <p:sldId id="270" r:id="rId20"/>
    <p:sldId id="271"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p:cViewPr>
        <p:scale>
          <a:sx n="75" d="100"/>
          <a:sy n="75" d="100"/>
        </p:scale>
        <p:origin x="1536" y="42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48A42-257B-4D58-89FE-D71FF5388B07}"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F57A87-6400-4E95-90B4-F9F415369F14}" type="slidenum">
              <a:rPr lang="en-IN" smtClean="0"/>
              <a:t>‹#›</a:t>
            </a:fld>
            <a:endParaRPr lang="en-IN"/>
          </a:p>
        </p:txBody>
      </p:sp>
    </p:spTree>
    <p:extLst>
      <p:ext uri="{BB962C8B-B14F-4D97-AF65-F5344CB8AC3E}">
        <p14:creationId xmlns:p14="http://schemas.microsoft.com/office/powerpoint/2010/main" val="98531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F57A87-6400-4E95-90B4-F9F415369F14}" type="slidenum">
              <a:rPr lang="en-IN" smtClean="0"/>
              <a:t>3</a:t>
            </a:fld>
            <a:endParaRPr lang="en-IN"/>
          </a:p>
        </p:txBody>
      </p:sp>
    </p:spTree>
    <p:extLst>
      <p:ext uri="{BB962C8B-B14F-4D97-AF65-F5344CB8AC3E}">
        <p14:creationId xmlns:p14="http://schemas.microsoft.com/office/powerpoint/2010/main" val="398930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F57A87-6400-4E95-90B4-F9F415369F14}" type="slidenum">
              <a:rPr lang="en-IN" smtClean="0"/>
              <a:t>6</a:t>
            </a:fld>
            <a:endParaRPr lang="en-IN"/>
          </a:p>
        </p:txBody>
      </p:sp>
    </p:spTree>
    <p:extLst>
      <p:ext uri="{BB962C8B-B14F-4D97-AF65-F5344CB8AC3E}">
        <p14:creationId xmlns:p14="http://schemas.microsoft.com/office/powerpoint/2010/main" val="1044877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F57A87-6400-4E95-90B4-F9F415369F14}" type="slidenum">
              <a:rPr lang="en-IN" smtClean="0"/>
              <a:t>8</a:t>
            </a:fld>
            <a:endParaRPr lang="en-IN"/>
          </a:p>
        </p:txBody>
      </p:sp>
    </p:spTree>
    <p:extLst>
      <p:ext uri="{BB962C8B-B14F-4D97-AF65-F5344CB8AC3E}">
        <p14:creationId xmlns:p14="http://schemas.microsoft.com/office/powerpoint/2010/main" val="1706676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F57A87-6400-4E95-90B4-F9F415369F14}" type="slidenum">
              <a:rPr lang="en-IN" smtClean="0"/>
              <a:t>16</a:t>
            </a:fld>
            <a:endParaRPr lang="en-IN"/>
          </a:p>
        </p:txBody>
      </p:sp>
    </p:spTree>
    <p:extLst>
      <p:ext uri="{BB962C8B-B14F-4D97-AF65-F5344CB8AC3E}">
        <p14:creationId xmlns:p14="http://schemas.microsoft.com/office/powerpoint/2010/main" val="3510885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F57A87-6400-4E95-90B4-F9F415369F14}" type="slidenum">
              <a:rPr lang="en-IN" smtClean="0"/>
              <a:t>17</a:t>
            </a:fld>
            <a:endParaRPr lang="en-IN"/>
          </a:p>
        </p:txBody>
      </p:sp>
    </p:spTree>
    <p:extLst>
      <p:ext uri="{BB962C8B-B14F-4D97-AF65-F5344CB8AC3E}">
        <p14:creationId xmlns:p14="http://schemas.microsoft.com/office/powerpoint/2010/main" val="3246863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a:spLocks/>
          </p:cNvSpPr>
          <p:nvPr/>
        </p:nvSpPr>
        <p:spPr bwMode="auto">
          <a:xfrm>
            <a:off x="0" y="3563542"/>
            <a:ext cx="9144000" cy="158472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6" y="0"/>
            <a:ext cx="3038475" cy="51435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9" name="Title 8"/>
          <p:cNvSpPr>
            <a:spLocks noGrp="1"/>
          </p:cNvSpPr>
          <p:nvPr>
            <p:ph type="ctrTitle"/>
          </p:nvPr>
        </p:nvSpPr>
        <p:spPr>
          <a:xfrm>
            <a:off x="457200" y="1314450"/>
            <a:ext cx="6629400" cy="19431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DB7E87BE-ECB9-4915-A9FB-AC5A32E7C64D}" type="datetime4">
              <a:rPr lang="en-US"/>
              <a:pPr>
                <a:defRPr/>
              </a:pPr>
              <a:t>April 6, 2026</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b="1">
                <a:solidFill>
                  <a:schemeClr val="tx1"/>
                </a:solidFill>
              </a:defRPr>
            </a:lvl1pPr>
          </a:lstStyle>
          <a:p>
            <a:pPr>
              <a:defRPr/>
            </a:pPr>
            <a:fld id="{7B992530-92A3-44B4-96DF-B2605C41FE7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14300"/>
            <a:ext cx="7696200" cy="742950"/>
          </a:xfrm>
        </p:spPr>
        <p:txBody>
          <a:bodyPr/>
          <a:lstStyle>
            <a:lvl1pPr algn="l">
              <a:defRPr/>
            </a:lvl1pPr>
          </a:lstStyle>
          <a:p>
            <a:r>
              <a:rPr lang="en-US"/>
              <a:t>Click to edit Master title style</a:t>
            </a:r>
          </a:p>
        </p:txBody>
      </p:sp>
      <p:sp>
        <p:nvSpPr>
          <p:cNvPr id="3" name="Content Placeholder 2"/>
          <p:cNvSpPr>
            <a:spLocks noGrp="1"/>
          </p:cNvSpPr>
          <p:nvPr>
            <p:ph idx="1"/>
          </p:nvPr>
        </p:nvSpPr>
        <p:spPr>
          <a:xfrm>
            <a:off x="228600" y="1028701"/>
            <a:ext cx="8610600" cy="3508772"/>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171450"/>
          </a:xfrm>
        </p:spPr>
        <p:txBody>
          <a:bodyPr anchor="t"/>
          <a:lstStyle>
            <a:lvl1pPr>
              <a:defRPr/>
            </a:lvl1pPr>
          </a:lstStyle>
          <a:p>
            <a:pPr>
              <a:defRPr/>
            </a:pPr>
            <a:fld id="{BCA20BF4-46A4-4C62-9717-542F3E07C11D}" type="datetime4">
              <a:rPr lang="en-US"/>
              <a:pPr>
                <a:defRPr/>
              </a:pPr>
              <a:t>April 6,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pPr>
              <a:defRPr/>
            </a:pPr>
            <a:fld id="{FAB6ED7B-5CA3-4472-B01C-99CB7689D1EA}"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a:spLocks/>
          </p:cNvSpPr>
          <p:nvPr/>
        </p:nvSpPr>
        <p:spPr bwMode="auto">
          <a:xfrm>
            <a:off x="0" y="3563542"/>
            <a:ext cx="9144000" cy="158472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6" y="0"/>
            <a:ext cx="3038475" cy="51435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600201"/>
            <a:ext cx="6629400" cy="1369772"/>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1"/>
            <a:ext cx="1219200" cy="213122"/>
          </a:xfrm>
        </p:spPr>
        <p:txBody>
          <a:bodyPr anchor="t"/>
          <a:lstStyle>
            <a:lvl1pPr>
              <a:defRPr/>
            </a:lvl1pPr>
          </a:lstStyle>
          <a:p>
            <a:pPr>
              <a:defRPr/>
            </a:pPr>
            <a:fld id="{8AD5B4E8-8B51-4882-8119-31F6314D291B}" type="datetime4">
              <a:rPr lang="en-US"/>
              <a:pPr>
                <a:defRPr/>
              </a:pPr>
              <a:t>April 6, 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pPr>
              <a:defRPr/>
            </a:pPr>
            <a:fld id="{A1B217A7-E8DB-44FD-ABFD-9152337CD6C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857250"/>
          </a:xfrm>
        </p:spPr>
        <p:txBody>
          <a:bodyPr/>
          <a:lstStyle/>
          <a:p>
            <a:r>
              <a:rPr lang="en-US"/>
              <a:t>Click to edit Master title style</a:t>
            </a:r>
          </a:p>
        </p:txBody>
      </p:sp>
      <p:sp>
        <p:nvSpPr>
          <p:cNvPr id="3" name="Content Placeholder 2"/>
          <p:cNvSpPr>
            <a:spLocks noGrp="1"/>
          </p:cNvSpPr>
          <p:nvPr>
            <p:ph sz="half" idx="1"/>
          </p:nvPr>
        </p:nvSpPr>
        <p:spPr>
          <a:xfrm>
            <a:off x="457200" y="1200151"/>
            <a:ext cx="3657600" cy="3394472"/>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200151"/>
            <a:ext cx="3657600" cy="3394472"/>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1"/>
            <a:ext cx="1143000" cy="273844"/>
          </a:xfrm>
        </p:spPr>
        <p:txBody>
          <a:bodyPr anchor="t"/>
          <a:lstStyle>
            <a:lvl1pPr>
              <a:defRPr/>
            </a:lvl1pPr>
          </a:lstStyle>
          <a:p>
            <a:pPr>
              <a:defRPr/>
            </a:pPr>
            <a:fld id="{B4147ACC-92FB-429D-8ACA-A583ECABA249}" type="datetime4">
              <a:rPr lang="en-US"/>
              <a:pPr>
                <a:defRPr/>
              </a:pPr>
              <a:t>April 6, 2026</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pPr>
              <a:defRPr/>
            </a:pPr>
            <a:fld id="{BACC7008-F5ED-4269-A898-E084C9C899C3}"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4114800"/>
            <a:ext cx="4040188" cy="62865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4" name="Text Placeholder 3"/>
          <p:cNvSpPr>
            <a:spLocks noGrp="1"/>
          </p:cNvSpPr>
          <p:nvPr>
            <p:ph type="body" sz="half" idx="3"/>
          </p:nvPr>
        </p:nvSpPr>
        <p:spPr>
          <a:xfrm>
            <a:off x="4645027" y="4114800"/>
            <a:ext cx="4041775" cy="62865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1" y="1137685"/>
            <a:ext cx="4040188" cy="2956322"/>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7" y="1137685"/>
            <a:ext cx="4041775" cy="2956322"/>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1"/>
            <a:ext cx="1143000" cy="273844"/>
          </a:xfrm>
        </p:spPr>
        <p:txBody>
          <a:bodyPr anchor="t"/>
          <a:lstStyle>
            <a:lvl1pPr>
              <a:defRPr/>
            </a:lvl1pPr>
          </a:lstStyle>
          <a:p>
            <a:pPr>
              <a:defRPr/>
            </a:pPr>
            <a:fld id="{272CADEB-BF3F-40FE-A6E1-8FB498EBFF75}" type="datetime4">
              <a:rPr lang="en-US"/>
              <a:pPr>
                <a:defRPr/>
              </a:pPr>
              <a:t>April 6, 2026</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pPr>
              <a:defRPr/>
            </a:pPr>
            <a:fld id="{A246BB36-18C6-4FE9-B805-A8C3DE15B00B}"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7470648" cy="85725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83A8CC13-011D-4FF1-A91B-6F32563F3107}" type="datetime4">
              <a:rPr lang="en-US"/>
              <a:pPr>
                <a:defRPr/>
              </a:pPr>
              <a:t>April 6, 2026</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pPr>
              <a:defRPr/>
            </a:pPr>
            <a:fld id="{408C28FB-DE10-4C5E-A921-43ECF992E87A}"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1994FAC-2DE5-41E9-9A24-8A1E7CF1B5A0}" type="datetime4">
              <a:rPr lang="en-US"/>
              <a:pPr>
                <a:defRPr/>
              </a:pPr>
              <a:t>April 6, 2026</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pPr>
              <a:defRPr/>
            </a:pPr>
            <a:fld id="{2AABB723-660E-4467-8A37-055799D186E4}"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89147"/>
            <a:ext cx="3200400" cy="547688"/>
          </a:xfrm>
        </p:spPr>
        <p:txBody>
          <a:bodyPr tIns="0" bIns="0" anchor="t"/>
          <a:lstStyle>
            <a:lvl1pPr algn="l">
              <a:buNone/>
              <a:defRPr sz="1800" b="1">
                <a:solidFill>
                  <a:schemeClr val="accent1"/>
                </a:solidFill>
              </a:defRPr>
            </a:lvl1pPr>
          </a:lstStyle>
          <a:p>
            <a:r>
              <a:rPr lang="en-US"/>
              <a:t>Click to edit Master title style</a:t>
            </a:r>
          </a:p>
        </p:txBody>
      </p:sp>
      <p:sp>
        <p:nvSpPr>
          <p:cNvPr id="3" name="Text Placeholder 2"/>
          <p:cNvSpPr>
            <a:spLocks noGrp="1"/>
          </p:cNvSpPr>
          <p:nvPr>
            <p:ph type="body" idx="2"/>
          </p:nvPr>
        </p:nvSpPr>
        <p:spPr>
          <a:xfrm>
            <a:off x="457200" y="160818"/>
            <a:ext cx="2743200" cy="6858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485900"/>
            <a:ext cx="7086600" cy="28575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BDFC0E5-92B9-4058-9E1A-1150FD45C641}" type="datetime4">
              <a:rPr lang="en-US"/>
              <a:pPr>
                <a:defRPr/>
              </a:pPr>
              <a:t>April 6, 2026</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4816080"/>
            <a:ext cx="762000" cy="273844"/>
          </a:xfrm>
        </p:spPr>
        <p:txBody>
          <a:bodyPr/>
          <a:lstStyle>
            <a:lvl1pPr>
              <a:defRPr/>
            </a:lvl1pPr>
          </a:lstStyle>
          <a:p>
            <a:pPr>
              <a:defRPr/>
            </a:pPr>
            <a:fld id="{10998E90-0A32-499E-B1BB-FF45A4E227C1}"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62601" y="914400"/>
            <a:ext cx="3053868" cy="940356"/>
          </a:xfrm>
        </p:spPr>
        <p:txBody>
          <a:bodyPr anchor="b"/>
          <a:lstStyle>
            <a:lvl1pPr algn="l">
              <a:buNone/>
              <a:defRPr sz="2200" b="1">
                <a:solidFill>
                  <a:srgbClr val="FFD03B"/>
                </a:solidFill>
              </a:defRPr>
            </a:lvl1pPr>
          </a:lstStyle>
          <a:p>
            <a:r>
              <a:rPr lang="en-US"/>
              <a:t>Click to edit Master title style</a:t>
            </a:r>
          </a:p>
        </p:txBody>
      </p:sp>
      <p:sp>
        <p:nvSpPr>
          <p:cNvPr id="3" name="Picture Placeholder 2"/>
          <p:cNvSpPr>
            <a:spLocks noGrp="1"/>
          </p:cNvSpPr>
          <p:nvPr>
            <p:ph type="pic" idx="1"/>
          </p:nvPr>
        </p:nvSpPr>
        <p:spPr>
          <a:xfrm>
            <a:off x="1065628" y="764930"/>
            <a:ext cx="4114800" cy="30861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562601" y="2057400"/>
            <a:ext cx="3053867" cy="199761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2FF0269C-98B0-431C-9C3C-6AD045396D3C}" type="datetime4">
              <a:rPr lang="en-US"/>
              <a:pPr>
                <a:defRPr/>
              </a:pPr>
              <a:t>April 6, 2026</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pPr>
              <a:defRPr/>
            </a:pPr>
            <a:fld id="{E766B00E-CF0F-496B-9F75-F8C31B645E5F}"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6E299F9-016B-44F3-9982-C9355A2155B3}" type="datetime4">
              <a:rPr lang="en-US"/>
              <a:pPr>
                <a:defRPr/>
              </a:pPr>
              <a:t>April 6, 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pPr>
              <a:defRPr/>
            </a:pPr>
            <a:fld id="{3026275E-019F-4DBF-9570-2B2CFE581BE3}"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235DA6DD-3B24-4DF3-9704-5628DCCB3A4F}" type="datetime4">
              <a:rPr lang="en-US"/>
              <a:pPr>
                <a:defRPr/>
              </a:pPr>
              <a:t>April 6, 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pPr>
              <a:defRPr/>
            </a:pPr>
            <a:fld id="{614E3C3C-488C-4C21-8865-BBB9440A05BB}"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6"/>
            <a:ext cx="7772400" cy="1125140"/>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24EE324-7AFF-46B2-A17A-120FCC0BF172}" type="datetime4">
              <a:rPr lang="en-US"/>
              <a:pPr>
                <a:defRPr/>
              </a:pPr>
              <a:t>April 6,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B9E0CA6-51E5-4909-A9E7-74F83F1586A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 name="Freeform 11"/>
          <p:cNvSpPr>
            <a:spLocks/>
          </p:cNvSpPr>
          <p:nvPr/>
        </p:nvSpPr>
        <p:spPr bwMode="auto">
          <a:xfrm>
            <a:off x="0" y="4057651"/>
            <a:ext cx="9144000" cy="1090613"/>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099" name="Title Placeholder 8"/>
          <p:cNvSpPr>
            <a:spLocks noGrp="1"/>
          </p:cNvSpPr>
          <p:nvPr>
            <p:ph type="title"/>
          </p:nvPr>
        </p:nvSpPr>
        <p:spPr bwMode="auto">
          <a:xfrm>
            <a:off x="304800" y="114300"/>
            <a:ext cx="7620000" cy="74295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4100" name="Text Placeholder 29"/>
          <p:cNvSpPr>
            <a:spLocks noGrp="1"/>
          </p:cNvSpPr>
          <p:nvPr>
            <p:ph type="body" idx="1"/>
          </p:nvPr>
        </p:nvSpPr>
        <p:spPr bwMode="auto">
          <a:xfrm>
            <a:off x="304800" y="1028701"/>
            <a:ext cx="7620000" cy="35087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4816080"/>
            <a:ext cx="2133600" cy="273844"/>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509370FD-357F-4AB4-A167-B810DFE2EDE9}" type="datetime4">
              <a:rPr lang="en-US"/>
              <a:pPr>
                <a:defRPr/>
              </a:pPr>
              <a:t>April 6, 2026</a:t>
            </a:fld>
            <a:endParaRPr lang="en-US"/>
          </a:p>
        </p:txBody>
      </p:sp>
      <p:sp>
        <p:nvSpPr>
          <p:cNvPr id="22" name="Footer Placeholder 21"/>
          <p:cNvSpPr>
            <a:spLocks noGrp="1"/>
          </p:cNvSpPr>
          <p:nvPr>
            <p:ph type="ftr" sz="quarter" idx="3"/>
          </p:nvPr>
        </p:nvSpPr>
        <p:spPr>
          <a:xfrm>
            <a:off x="3124200" y="4816080"/>
            <a:ext cx="2895600" cy="273844"/>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8" name="Slide Number Placeholder 17"/>
          <p:cNvSpPr>
            <a:spLocks noGrp="1"/>
          </p:cNvSpPr>
          <p:nvPr>
            <p:ph type="sldNum" sz="quarter" idx="4"/>
          </p:nvPr>
        </p:nvSpPr>
        <p:spPr>
          <a:xfrm>
            <a:off x="8153400" y="4816080"/>
            <a:ext cx="762000" cy="273844"/>
          </a:xfrm>
          <a:prstGeom prst="rect">
            <a:avLst/>
          </a:prstGeom>
        </p:spPr>
        <p:txBody>
          <a:bodyPr vert="horz" lIns="0" tIns="0" rIns="0" bIns="0" anchor="b"/>
          <a:lstStyle>
            <a:lvl1pPr algn="r" eaLnBrk="1" fontAlgn="auto" latinLnBrk="0" hangingPunct="1">
              <a:spcBef>
                <a:spcPts val="0"/>
              </a:spcBef>
              <a:spcAft>
                <a:spcPts val="0"/>
              </a:spcAft>
              <a:defRPr kumimoji="0" sz="1000" b="1">
                <a:solidFill>
                  <a:schemeClr val="tx1"/>
                </a:solidFill>
                <a:latin typeface="+mn-lt"/>
                <a:cs typeface="+mn-cs"/>
              </a:defRPr>
            </a:lvl1pPr>
          </a:lstStyle>
          <a:p>
            <a:pPr>
              <a:defRPr/>
            </a:pPr>
            <a:fld id="{7F2A4EA7-F13F-43F3-A75F-8AA8F92E94B8}"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AB6ED7B-5CA3-4472-B01C-99CB7689D1EA}" type="slidenum">
              <a:rPr lang="en-US" smtClean="0"/>
              <a:pPr>
                <a:defRPr/>
              </a:pPr>
              <a:t>1</a:t>
            </a:fld>
            <a:endParaRPr lang="en-US"/>
          </a:p>
        </p:txBody>
      </p:sp>
      <p:sp>
        <p:nvSpPr>
          <p:cNvPr id="5" name="Rectangle 4"/>
          <p:cNvSpPr/>
          <p:nvPr/>
        </p:nvSpPr>
        <p:spPr>
          <a:xfrm>
            <a:off x="0" y="0"/>
            <a:ext cx="83058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TextBox 8">
            <a:extLst>
              <a:ext uri="{FF2B5EF4-FFF2-40B4-BE49-F238E27FC236}">
                <a16:creationId xmlns:a16="http://schemas.microsoft.com/office/drawing/2014/main" id="{C95EC44D-D249-3C17-0A05-6F412CB28051}"/>
              </a:ext>
            </a:extLst>
          </p:cNvPr>
          <p:cNvSpPr txBox="1"/>
          <p:nvPr/>
        </p:nvSpPr>
        <p:spPr>
          <a:xfrm>
            <a:off x="1181100" y="1093810"/>
            <a:ext cx="6781800" cy="646331"/>
          </a:xfrm>
          <a:prstGeom prst="rect">
            <a:avLst/>
          </a:prstGeom>
          <a:noFill/>
        </p:spPr>
        <p:txBody>
          <a:bodyPr wrap="square">
            <a:spAutoFit/>
          </a:bodyPr>
          <a:lstStyle/>
          <a:p>
            <a:pPr algn="ctr"/>
            <a:r>
              <a:rPr lang="en-US" b="1" dirty="0">
                <a:solidFill>
                  <a:schemeClr val="bg1"/>
                </a:solidFill>
              </a:rPr>
              <a:t>Intelligent Network Intrusion Detection And </a:t>
            </a:r>
            <a:r>
              <a:rPr lang="en-US" b="1">
                <a:solidFill>
                  <a:schemeClr val="bg1"/>
                </a:solidFill>
              </a:rPr>
              <a:t>Response System</a:t>
            </a:r>
            <a:endParaRPr lang="en-IN" b="1" dirty="0">
              <a:solidFill>
                <a:schemeClr val="bg1"/>
              </a:solidFill>
            </a:endParaRPr>
          </a:p>
        </p:txBody>
      </p:sp>
      <p:sp>
        <p:nvSpPr>
          <p:cNvPr id="10" name="Content Placeholder 3">
            <a:extLst>
              <a:ext uri="{FF2B5EF4-FFF2-40B4-BE49-F238E27FC236}">
                <a16:creationId xmlns:a16="http://schemas.microsoft.com/office/drawing/2014/main" id="{9551A114-F3D1-A97E-A826-829233649146}"/>
              </a:ext>
            </a:extLst>
          </p:cNvPr>
          <p:cNvSpPr txBox="1"/>
          <p:nvPr/>
        </p:nvSpPr>
        <p:spPr>
          <a:xfrm>
            <a:off x="125662" y="2495550"/>
            <a:ext cx="4191000" cy="111286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endParaRPr lang="en-US" sz="1600" dirty="0">
              <a:solidFill>
                <a:srgbClr val="00B050"/>
              </a:solidFill>
            </a:endParaRPr>
          </a:p>
          <a:p>
            <a:pPr marL="0" indent="0" algn="ctr">
              <a:lnSpc>
                <a:spcPct val="100000"/>
              </a:lnSpc>
              <a:spcBef>
                <a:spcPts val="0"/>
              </a:spcBef>
              <a:buNone/>
            </a:pPr>
            <a:r>
              <a:rPr lang="en-US" sz="1600" dirty="0">
                <a:solidFill>
                  <a:schemeClr val="bg1"/>
                </a:solidFill>
              </a:rPr>
              <a:t>Batch No: 140</a:t>
            </a:r>
          </a:p>
          <a:p>
            <a:pPr marL="0" indent="0" algn="ctr">
              <a:lnSpc>
                <a:spcPct val="100000"/>
              </a:lnSpc>
              <a:spcBef>
                <a:spcPts val="0"/>
              </a:spcBef>
              <a:buNone/>
            </a:pPr>
            <a:r>
              <a:rPr lang="en-US" sz="1600" dirty="0">
                <a:solidFill>
                  <a:srgbClr val="00B050"/>
                </a:solidFill>
              </a:rPr>
              <a:t>M. Sri Ram    –  25955A6624</a:t>
            </a:r>
          </a:p>
          <a:p>
            <a:pPr marL="0" indent="0" algn="ctr">
              <a:lnSpc>
                <a:spcPct val="100000"/>
              </a:lnSpc>
              <a:spcBef>
                <a:spcPts val="0"/>
              </a:spcBef>
              <a:buNone/>
            </a:pPr>
            <a:r>
              <a:rPr lang="en-US" sz="1600" dirty="0">
                <a:solidFill>
                  <a:srgbClr val="00B050"/>
                </a:solidFill>
              </a:rPr>
              <a:t>T. Venkatesh –  25955A6625</a:t>
            </a:r>
          </a:p>
          <a:p>
            <a:pPr marL="0" indent="0">
              <a:lnSpc>
                <a:spcPct val="100000"/>
              </a:lnSpc>
              <a:spcBef>
                <a:spcPts val="0"/>
              </a:spcBef>
              <a:buNone/>
            </a:pPr>
            <a:endParaRPr lang="en-US" sz="1600" dirty="0">
              <a:solidFill>
                <a:srgbClr val="00B050"/>
              </a:solidFill>
            </a:endParaRPr>
          </a:p>
        </p:txBody>
      </p:sp>
      <p:sp>
        <p:nvSpPr>
          <p:cNvPr id="11" name="Content Placeholder 3">
            <a:extLst>
              <a:ext uri="{FF2B5EF4-FFF2-40B4-BE49-F238E27FC236}">
                <a16:creationId xmlns:a16="http://schemas.microsoft.com/office/drawing/2014/main" id="{BD9B5DBD-619D-1821-BD22-0627EEE49131}"/>
              </a:ext>
            </a:extLst>
          </p:cNvPr>
          <p:cNvSpPr txBox="1"/>
          <p:nvPr/>
        </p:nvSpPr>
        <p:spPr>
          <a:xfrm>
            <a:off x="4690265" y="2343150"/>
            <a:ext cx="4328073" cy="182880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400" dirty="0">
                <a:solidFill>
                  <a:srgbClr val="00B050"/>
                </a:solidFill>
              </a:rPr>
              <a:t>Under the Guidance </a:t>
            </a:r>
          </a:p>
          <a:p>
            <a:pPr marL="0" indent="0" algn="ctr">
              <a:lnSpc>
                <a:spcPct val="100000"/>
              </a:lnSpc>
              <a:buNone/>
            </a:pPr>
            <a:r>
              <a:rPr lang="en-US" sz="1400" dirty="0">
                <a:solidFill>
                  <a:srgbClr val="00B050"/>
                </a:solidFill>
              </a:rPr>
              <a:t>of </a:t>
            </a:r>
          </a:p>
          <a:p>
            <a:pPr marL="0" indent="0" algn="ctr">
              <a:lnSpc>
                <a:spcPct val="100000"/>
              </a:lnSpc>
              <a:buNone/>
            </a:pPr>
            <a:r>
              <a:rPr lang="en-US" sz="1400" dirty="0">
                <a:solidFill>
                  <a:srgbClr val="00B050"/>
                </a:solidFill>
              </a:rPr>
              <a:t>Ms. Y. </a:t>
            </a:r>
            <a:r>
              <a:rPr lang="en-US" sz="1400" dirty="0" err="1">
                <a:solidFill>
                  <a:srgbClr val="00B050"/>
                </a:solidFill>
              </a:rPr>
              <a:t>Bhanushya</a:t>
            </a:r>
            <a:endParaRPr lang="en-US" sz="1400" dirty="0">
              <a:solidFill>
                <a:srgbClr val="00B050"/>
              </a:solidFill>
            </a:endParaRPr>
          </a:p>
          <a:p>
            <a:pPr marL="0" indent="0" algn="ctr">
              <a:buNone/>
            </a:pPr>
            <a:r>
              <a:rPr lang="en-US" sz="1400" dirty="0">
                <a:solidFill>
                  <a:srgbClr val="00B050"/>
                </a:solidFill>
              </a:rPr>
              <a:t>CSE (ARTIFICIAL INTELLIGENCE &amp;MACHINE LEARNING)</a:t>
            </a:r>
          </a:p>
        </p:txBody>
      </p:sp>
    </p:spTree>
    <p:extLst>
      <p:ext uri="{BB962C8B-B14F-4D97-AF65-F5344CB8AC3E}">
        <p14:creationId xmlns:p14="http://schemas.microsoft.com/office/powerpoint/2010/main" val="11060867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AB6ED7B-5CA3-4472-B01C-99CB7689D1EA}" type="slidenum">
              <a:rPr lang="en-US" smtClean="0"/>
              <a:pPr>
                <a:defRPr/>
              </a:pPr>
              <a:t>2</a:t>
            </a:fld>
            <a:endParaRPr lang="en-US"/>
          </a:p>
        </p:txBody>
      </p:sp>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p:cNvSpPr/>
          <p:nvPr/>
        </p:nvSpPr>
        <p:spPr>
          <a:xfrm>
            <a:off x="76200" y="693051"/>
            <a:ext cx="8991600" cy="4536627"/>
          </a:xfrm>
          <a:prstGeom prst="rect">
            <a:avLst/>
          </a:prstGeom>
        </p:spPr>
        <p:txBody>
          <a:bodyPr wrap="square">
            <a:spAutoFit/>
          </a:bodyPr>
          <a:lstStyle/>
          <a:p>
            <a:pPr lvl="0" algn="ctr" fontAlgn="auto">
              <a:spcBef>
                <a:spcPct val="20000"/>
              </a:spcBef>
              <a:spcAft>
                <a:spcPts val="0"/>
              </a:spcAft>
            </a:pPr>
            <a:r>
              <a:rPr lang="en-US" sz="2000" dirty="0">
                <a:solidFill>
                  <a:schemeClr val="bg1"/>
                </a:solidFill>
              </a:rPr>
              <a:t>OUTLINE</a:t>
            </a:r>
          </a:p>
          <a:p>
            <a:pPr lvl="0" indent="357188" fontAlgn="auto">
              <a:spcBef>
                <a:spcPct val="20000"/>
              </a:spcBef>
              <a:spcAft>
                <a:spcPts val="0"/>
              </a:spcAft>
              <a:buFont typeface="Wingdings" panose="05000000000000000000" pitchFamily="2" charset="2"/>
              <a:buChar char="Ø"/>
              <a:tabLst>
                <a:tab pos="177800" algn="l"/>
              </a:tabLst>
            </a:pPr>
            <a:r>
              <a:rPr lang="en-US" sz="2000" dirty="0">
                <a:solidFill>
                  <a:schemeClr val="bg1"/>
                </a:solidFill>
                <a:latin typeface="Times New Roman" panose="02020603050405020304" pitchFamily="18" charset="0"/>
                <a:cs typeface="Times New Roman" panose="02020603050405020304" pitchFamily="18" charset="0"/>
              </a:rPr>
              <a:t>Abstract</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Problem statement </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Existing solutions </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Gaps in existing solutions</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Proposed work (algorithm/techniques/methods/approaches) </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Experiments planned</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Expected results or outcomes</a:t>
            </a:r>
          </a:p>
          <a:p>
            <a:pPr marL="0" lvl="1" indent="357188">
              <a:spcBef>
                <a:spcPct val="20000"/>
              </a:spcBef>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Future work</a:t>
            </a:r>
          </a:p>
          <a:p>
            <a:pPr marL="0" lvl="1" indent="357188">
              <a:spcBef>
                <a:spcPct val="20000"/>
              </a:spcBef>
              <a:buFont typeface="Wingdings" panose="05000000000000000000" pitchFamily="2" charset="2"/>
              <a:buChar char="Ø"/>
            </a:pPr>
            <a:r>
              <a:rPr lang="en-IN" sz="2000" dirty="0">
                <a:solidFill>
                  <a:schemeClr val="bg1"/>
                </a:solidFill>
                <a:latin typeface="Times New Roman" panose="02020603050405020304" pitchFamily="18" charset="0"/>
                <a:cs typeface="Times New Roman" panose="02020603050405020304" pitchFamily="18" charset="0"/>
              </a:rPr>
              <a:t>Objectives</a:t>
            </a:r>
          </a:p>
          <a:p>
            <a:pPr marL="0" lvl="1" indent="357188">
              <a:spcBef>
                <a:spcPct val="20000"/>
              </a:spcBef>
              <a:buFont typeface="Wingdings" panose="05000000000000000000" pitchFamily="2" charset="2"/>
              <a:buChar char="Ø"/>
            </a:pPr>
            <a:r>
              <a:rPr lang="en-IN" sz="2000" dirty="0">
                <a:solidFill>
                  <a:schemeClr val="bg1"/>
                </a:solidFill>
              </a:rPr>
              <a:t>Literature survey. </a:t>
            </a:r>
            <a:endParaRPr lang="en-IN" sz="2000" dirty="0">
              <a:solidFill>
                <a:schemeClr val="bg1"/>
              </a:solidFill>
              <a:latin typeface="Times New Roman" panose="02020603050405020304" pitchFamily="18" charset="0"/>
              <a:cs typeface="Times New Roman" panose="02020603050405020304" pitchFamily="18" charset="0"/>
            </a:endParaRPr>
          </a:p>
          <a:p>
            <a:pPr marL="914400" lvl="1" indent="-457200">
              <a:spcBef>
                <a:spcPct val="20000"/>
              </a:spcBef>
              <a:buFont typeface="Wingdings" panose="05000000000000000000" pitchFamily="2" charset="2"/>
              <a:buChar char="q"/>
              <a:tabLst>
                <a:tab pos="177800" algn="l"/>
              </a:tabLst>
            </a:pP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6086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87B0A-10D1-4FC8-B067-FB10D352DA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77284C-27FA-ABD5-3142-74213BAA6418}"/>
              </a:ext>
            </a:extLst>
          </p:cNvPr>
          <p:cNvSpPr>
            <a:spLocks noGrp="1"/>
          </p:cNvSpPr>
          <p:nvPr>
            <p:ph type="sldNum" sz="quarter" idx="12"/>
          </p:nvPr>
        </p:nvSpPr>
        <p:spPr>
          <a:xfrm>
            <a:off x="8153400" y="4869656"/>
            <a:ext cx="762000" cy="273844"/>
          </a:xfrm>
        </p:spPr>
        <p:txBody>
          <a:bodyPr/>
          <a:lstStyle/>
          <a:p>
            <a:pPr>
              <a:defRPr/>
            </a:pPr>
            <a:fld id="{FAB6ED7B-5CA3-4472-B01C-99CB7689D1EA}" type="slidenum">
              <a:rPr lang="en-US" smtClean="0"/>
              <a:pPr>
                <a:defRPr/>
              </a:pPr>
              <a:t>3</a:t>
            </a:fld>
            <a:endParaRPr lang="en-US"/>
          </a:p>
        </p:txBody>
      </p:sp>
      <p:sp>
        <p:nvSpPr>
          <p:cNvPr id="5" name="Rectangle 4">
            <a:extLst>
              <a:ext uri="{FF2B5EF4-FFF2-40B4-BE49-F238E27FC236}">
                <a16:creationId xmlns:a16="http://schemas.microsoft.com/office/drawing/2014/main" id="{5E43735A-1A86-8B1F-B6AE-837CA0DC72E9}"/>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97A12895-D4C3-FB0E-A7A2-5DB4155B7059}"/>
              </a:ext>
            </a:extLst>
          </p:cNvPr>
          <p:cNvPicPr>
            <a:picLocks noChangeAspect="1"/>
          </p:cNvPicPr>
          <p:nvPr/>
        </p:nvPicPr>
        <p:blipFill>
          <a:blip r:embed="rId3"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2DDCD177-60AF-7E86-095F-ABD0AB702E98}"/>
              </a:ext>
            </a:extLst>
          </p:cNvPr>
          <p:cNvSpPr/>
          <p:nvPr/>
        </p:nvSpPr>
        <p:spPr>
          <a:xfrm>
            <a:off x="76200" y="742951"/>
            <a:ext cx="8991600" cy="461665"/>
          </a:xfrm>
          <a:prstGeom prst="rect">
            <a:avLst/>
          </a:prstGeom>
        </p:spPr>
        <p:txBody>
          <a:bodyPr wrap="square">
            <a:spAutoFit/>
          </a:bodyPr>
          <a:lstStyle/>
          <a:p>
            <a:pPr lvl="0" fontAlgn="auto">
              <a:spcBef>
                <a:spcPct val="20000"/>
              </a:spcBef>
              <a:spcAft>
                <a:spcPts val="0"/>
              </a:spcAft>
              <a:tabLst>
                <a:tab pos="177800" algn="l"/>
              </a:tabLst>
            </a:pPr>
            <a:r>
              <a:rPr lang="en-US" sz="2400" b="1" dirty="0">
                <a:solidFill>
                  <a:schemeClr val="bg1"/>
                </a:solidFill>
                <a:latin typeface="Times New Roman" panose="02020603050405020304" pitchFamily="18" charset="0"/>
                <a:cs typeface="Times New Roman" panose="02020603050405020304" pitchFamily="18" charset="0"/>
              </a:rPr>
              <a:t>Abstract</a:t>
            </a:r>
          </a:p>
        </p:txBody>
      </p:sp>
      <p:sp>
        <p:nvSpPr>
          <p:cNvPr id="2" name="TextBox 1">
            <a:extLst>
              <a:ext uri="{FF2B5EF4-FFF2-40B4-BE49-F238E27FC236}">
                <a16:creationId xmlns:a16="http://schemas.microsoft.com/office/drawing/2014/main" id="{69986926-6C8B-8ED1-37B4-A4E0F32F789A}"/>
              </a:ext>
            </a:extLst>
          </p:cNvPr>
          <p:cNvSpPr txBox="1"/>
          <p:nvPr/>
        </p:nvSpPr>
        <p:spPr>
          <a:xfrm>
            <a:off x="381000" y="1340643"/>
            <a:ext cx="8458200" cy="3416320"/>
          </a:xfrm>
          <a:prstGeom prst="rect">
            <a:avLst/>
          </a:prstGeom>
          <a:noFill/>
        </p:spPr>
        <p:txBody>
          <a:bodyPr wrap="square" rtlCol="0">
            <a:spAutoFit/>
          </a:bodyPr>
          <a:lstStyle/>
          <a:p>
            <a:pPr algn="just"/>
            <a:r>
              <a:rPr lang="en-US" dirty="0">
                <a:solidFill>
                  <a:schemeClr val="bg1">
                    <a:lumMod val="95000"/>
                    <a:lumOff val="5000"/>
                  </a:schemeClr>
                </a:solidFill>
                <a:latin typeface="Times New Roman" panose="02020603050405020304" pitchFamily="18" charset="0"/>
                <a:cs typeface="Times New Roman" panose="02020603050405020304" pitchFamily="18" charset="0"/>
              </a:rPr>
              <a:t>With the rapid growth of computer networks and internet-based services, network security has become a major concern due to the increasing number of cyber attacks such as denial-of-service, probing, and unauthorized access. Traditional intrusion detection systems mainly focus on detecting attacks and generate a large number of alerts, which makes decision-making difficult for network administrators. This project proposes an </a:t>
            </a:r>
            <a:r>
              <a:rPr lang="en-US" b="1" dirty="0">
                <a:solidFill>
                  <a:schemeClr val="bg1">
                    <a:lumMod val="95000"/>
                    <a:lumOff val="5000"/>
                  </a:schemeClr>
                </a:solidFill>
                <a:latin typeface="Times New Roman" panose="02020603050405020304" pitchFamily="18" charset="0"/>
                <a:cs typeface="Times New Roman" panose="02020603050405020304" pitchFamily="18" charset="0"/>
              </a:rPr>
              <a:t>AI-Based Network Intrusion Detection System (IDS)</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 that combines </a:t>
            </a:r>
            <a:r>
              <a:rPr lang="en-US" b="1" dirty="0">
                <a:solidFill>
                  <a:schemeClr val="bg1">
                    <a:lumMod val="95000"/>
                    <a:lumOff val="5000"/>
                  </a:schemeClr>
                </a:solidFill>
                <a:latin typeface="Times New Roman" panose="02020603050405020304" pitchFamily="18" charset="0"/>
                <a:cs typeface="Times New Roman" panose="02020603050405020304" pitchFamily="18" charset="0"/>
              </a:rPr>
              <a:t>Machine Learning and Artificial Intelligence</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 Machine Learning techniques are used to analyze network traffic data and classify it as normal or malicious. Based on the detection results, an AI decision engine assigns severity levels and recommends appropriate response actions such as monitoring, alerting, or blocking. This software-based solution improves intrusion detection accuracy, reduces false alerts, and supports intelligent network security management.</a:t>
            </a:r>
          </a:p>
        </p:txBody>
      </p:sp>
    </p:spTree>
    <p:extLst>
      <p:ext uri="{BB962C8B-B14F-4D97-AF65-F5344CB8AC3E}">
        <p14:creationId xmlns:p14="http://schemas.microsoft.com/office/powerpoint/2010/main" val="49685751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0BA7-F179-F31A-20E0-38BB9C272FC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5AB15D-859C-1989-FE58-72A8896CC3EE}"/>
              </a:ext>
            </a:extLst>
          </p:cNvPr>
          <p:cNvSpPr>
            <a:spLocks noGrp="1"/>
          </p:cNvSpPr>
          <p:nvPr>
            <p:ph type="sldNum" sz="quarter" idx="12"/>
          </p:nvPr>
        </p:nvSpPr>
        <p:spPr/>
        <p:txBody>
          <a:bodyPr/>
          <a:lstStyle/>
          <a:p>
            <a:pPr>
              <a:defRPr/>
            </a:pPr>
            <a:fld id="{FAB6ED7B-5CA3-4472-B01C-99CB7689D1EA}" type="slidenum">
              <a:rPr lang="en-US" smtClean="0"/>
              <a:pPr>
                <a:defRPr/>
              </a:pPr>
              <a:t>4</a:t>
            </a:fld>
            <a:endParaRPr lang="en-US" dirty="0"/>
          </a:p>
        </p:txBody>
      </p:sp>
      <p:sp>
        <p:nvSpPr>
          <p:cNvPr id="5" name="Rectangle 4">
            <a:extLst>
              <a:ext uri="{FF2B5EF4-FFF2-40B4-BE49-F238E27FC236}">
                <a16:creationId xmlns:a16="http://schemas.microsoft.com/office/drawing/2014/main" id="{C246326D-B2ED-21EB-48F1-9AA9B553B38B}"/>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E80E1CF6-F64C-7853-008D-1DD98EE1186D}"/>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EC5383EF-B138-31EE-DA79-E21758F0B0AA}"/>
              </a:ext>
            </a:extLst>
          </p:cNvPr>
          <p:cNvSpPr/>
          <p:nvPr/>
        </p:nvSpPr>
        <p:spPr>
          <a:xfrm>
            <a:off x="76200" y="742951"/>
            <a:ext cx="8991600" cy="461665"/>
          </a:xfrm>
          <a:prstGeom prst="rect">
            <a:avLst/>
          </a:prstGeom>
        </p:spPr>
        <p:txBody>
          <a:bodyPr wrap="square">
            <a:spAutoFit/>
          </a:bodyPr>
          <a:lstStyle/>
          <a:p>
            <a:pPr lvl="0" fontAlgn="auto">
              <a:spcBef>
                <a:spcPct val="20000"/>
              </a:spcBef>
              <a:spcAft>
                <a:spcPts val="0"/>
              </a:spcAft>
              <a:tabLst>
                <a:tab pos="177800" algn="l"/>
              </a:tabLst>
            </a:pPr>
            <a:r>
              <a:rPr lang="en-US" sz="2400" b="1" dirty="0">
                <a:solidFill>
                  <a:schemeClr val="bg1"/>
                </a:solidFill>
                <a:latin typeface="Times New Roman" panose="02020603050405020304" pitchFamily="18" charset="0"/>
                <a:cs typeface="Times New Roman" panose="02020603050405020304" pitchFamily="18" charset="0"/>
              </a:rPr>
              <a:t>Introduction</a:t>
            </a:r>
          </a:p>
        </p:txBody>
      </p:sp>
      <p:sp>
        <p:nvSpPr>
          <p:cNvPr id="2" name="TextBox 1">
            <a:extLst>
              <a:ext uri="{FF2B5EF4-FFF2-40B4-BE49-F238E27FC236}">
                <a16:creationId xmlns:a16="http://schemas.microsoft.com/office/drawing/2014/main" id="{C67582D0-F20E-5D6D-C684-34698EDB4A96}"/>
              </a:ext>
            </a:extLst>
          </p:cNvPr>
          <p:cNvSpPr txBox="1"/>
          <p:nvPr/>
        </p:nvSpPr>
        <p:spPr>
          <a:xfrm>
            <a:off x="304800" y="1131629"/>
            <a:ext cx="8229600" cy="2862322"/>
          </a:xfrm>
          <a:prstGeom prst="rect">
            <a:avLst/>
          </a:prstGeom>
          <a:noFill/>
        </p:spPr>
        <p:txBody>
          <a:bodyPr wrap="square" rtlCol="0">
            <a:spAutoFit/>
          </a:bodyPr>
          <a:lstStyle/>
          <a:p>
            <a:pPr algn="just"/>
            <a:r>
              <a:rPr lang="en-US" dirty="0">
                <a:solidFill>
                  <a:schemeClr val="bg1">
                    <a:lumMod val="95000"/>
                    <a:lumOff val="5000"/>
                  </a:schemeClr>
                </a:solidFill>
                <a:latin typeface="Times New Roman" panose="02020603050405020304" pitchFamily="18" charset="0"/>
                <a:cs typeface="Times New Roman" panose="02020603050405020304" pitchFamily="18" charset="0"/>
              </a:rPr>
              <a:t>Computer networks are widely used in applications such as banking, healthcare, cloud computing, and enterprise systems. As network usage increases, the risk of cyber attacks also increases, making network security a critical challenge. Intrusion Detection Systems (IDS) are used to monitor network traffic and identify malicious activities. However, traditional IDS solutions rely on predefined rules and signatures and often generate excessive alerts without proper prioritization. This makes it difficult for administrators to respond effectively to security threats. To overcome these limitations, this project proposes an AI-based intrusion detection system that uses machine learning for accurate attack detection and artificial intelligence for intelligent decision-making and response support.</a:t>
            </a:r>
            <a:endParaRPr lang="en-IN"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023907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C890-CA05-99B3-52EF-50FDBCA063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A268EE-8C32-2910-0392-4488B888FC3A}"/>
              </a:ext>
            </a:extLst>
          </p:cNvPr>
          <p:cNvSpPr>
            <a:spLocks noGrp="1"/>
          </p:cNvSpPr>
          <p:nvPr>
            <p:ph type="sldNum" sz="quarter" idx="12"/>
          </p:nvPr>
        </p:nvSpPr>
        <p:spPr/>
        <p:txBody>
          <a:bodyPr/>
          <a:lstStyle/>
          <a:p>
            <a:pPr>
              <a:defRPr/>
            </a:pPr>
            <a:fld id="{FAB6ED7B-5CA3-4472-B01C-99CB7689D1EA}" type="slidenum">
              <a:rPr lang="en-US" smtClean="0"/>
              <a:pPr>
                <a:defRPr/>
              </a:pPr>
              <a:t>5</a:t>
            </a:fld>
            <a:endParaRPr lang="en-US"/>
          </a:p>
        </p:txBody>
      </p:sp>
      <p:sp>
        <p:nvSpPr>
          <p:cNvPr id="5" name="Rectangle 4">
            <a:extLst>
              <a:ext uri="{FF2B5EF4-FFF2-40B4-BE49-F238E27FC236}">
                <a16:creationId xmlns:a16="http://schemas.microsoft.com/office/drawing/2014/main" id="{239FA3F5-8C2E-5F6C-C8FD-DB29AF44DB58}"/>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7A79356D-19F0-DEC4-7071-8272B5701693}"/>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84B5AD5A-6093-450D-D136-ABC86AC14567}"/>
              </a:ext>
            </a:extLst>
          </p:cNvPr>
          <p:cNvSpPr/>
          <p:nvPr/>
        </p:nvSpPr>
        <p:spPr>
          <a:xfrm>
            <a:off x="228600" y="752839"/>
            <a:ext cx="8991600" cy="523220"/>
          </a:xfrm>
          <a:prstGeom prst="rect">
            <a:avLst/>
          </a:prstGeom>
        </p:spPr>
        <p:txBody>
          <a:bodyPr wrap="square">
            <a:spAutoFit/>
          </a:bodyPr>
          <a:lstStyle/>
          <a:p>
            <a:pPr lvl="0" fontAlgn="auto">
              <a:spcBef>
                <a:spcPct val="20000"/>
              </a:spcBef>
              <a:spcAft>
                <a:spcPts val="0"/>
              </a:spcAft>
            </a:pPr>
            <a:r>
              <a:rPr lang="en-US" sz="2800" b="1" dirty="0">
                <a:solidFill>
                  <a:schemeClr val="bg1"/>
                </a:solidFill>
                <a:latin typeface="Times New Roman" panose="02020603050405020304" pitchFamily="18" charset="0"/>
                <a:cs typeface="Times New Roman" panose="02020603050405020304" pitchFamily="18" charset="0"/>
              </a:rPr>
              <a:t>Problem statement</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C66A8C1-4434-686E-F08E-0125B4FA7B8B}"/>
              </a:ext>
            </a:extLst>
          </p:cNvPr>
          <p:cNvSpPr txBox="1"/>
          <p:nvPr/>
        </p:nvSpPr>
        <p:spPr>
          <a:xfrm>
            <a:off x="304800" y="1276059"/>
            <a:ext cx="8458200" cy="2862322"/>
          </a:xfrm>
          <a:prstGeom prst="rect">
            <a:avLst/>
          </a:prstGeom>
          <a:noFill/>
        </p:spPr>
        <p:txBody>
          <a:bodyPr wrap="square" rtlCol="0">
            <a:spAutoFit/>
          </a:bodyPr>
          <a:lstStyle/>
          <a:p>
            <a:pPr algn="just"/>
            <a:r>
              <a:rPr lang="en-US" dirty="0">
                <a:solidFill>
                  <a:schemeClr val="bg1">
                    <a:lumMod val="95000"/>
                    <a:lumOff val="5000"/>
                  </a:schemeClr>
                </a:solidFill>
                <a:latin typeface="Times New Roman" panose="02020603050405020304" pitchFamily="18" charset="0"/>
                <a:cs typeface="Times New Roman" panose="02020603050405020304" pitchFamily="18" charset="0"/>
              </a:rPr>
              <a:t>With the increasing dependency on computer networks, organizations face serious security threats from cyber attacks such as denial-of-service, probing, and unauthorized access. Traditional intrusion detection systems mainly focus on identifying malicious traffic but generate a large number of alerts, leading to alert fatigue and delayed responses. Network administrators are required to manually analyze alerts and decide appropriate actions, which is time-consuming and error-prone. Existing systems lack intelligent prioritization and automated response recommendations. Therefore, there is a need for an intelligent and automated intrusion detection system that not only detects attacks accurately but also assists in decision-making by prioritizing threats and recommending suitable security actions.</a:t>
            </a:r>
            <a:endParaRPr lang="en-IN"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6913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E5CA-D952-2054-64B8-5091BD54C13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0B1FCE-305D-1F54-3B6B-122ADE379128}"/>
              </a:ext>
            </a:extLst>
          </p:cNvPr>
          <p:cNvSpPr>
            <a:spLocks noGrp="1"/>
          </p:cNvSpPr>
          <p:nvPr>
            <p:ph type="sldNum" sz="quarter" idx="12"/>
          </p:nvPr>
        </p:nvSpPr>
        <p:spPr/>
        <p:txBody>
          <a:bodyPr/>
          <a:lstStyle/>
          <a:p>
            <a:pPr>
              <a:defRPr/>
            </a:pPr>
            <a:fld id="{FAB6ED7B-5CA3-4472-B01C-99CB7689D1EA}" type="slidenum">
              <a:rPr lang="en-US" smtClean="0"/>
              <a:pPr>
                <a:defRPr/>
              </a:pPr>
              <a:t>6</a:t>
            </a:fld>
            <a:endParaRPr lang="en-US"/>
          </a:p>
        </p:txBody>
      </p:sp>
      <p:sp>
        <p:nvSpPr>
          <p:cNvPr id="5" name="Rectangle 4">
            <a:extLst>
              <a:ext uri="{FF2B5EF4-FFF2-40B4-BE49-F238E27FC236}">
                <a16:creationId xmlns:a16="http://schemas.microsoft.com/office/drawing/2014/main" id="{9F9ADA67-A017-7C40-55A0-A4B0310BCDA9}"/>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EXISTING WORKS</a:t>
            </a:r>
          </a:p>
        </p:txBody>
      </p:sp>
      <p:pic>
        <p:nvPicPr>
          <p:cNvPr id="6" name="Picture 6" descr="iarelogo.JPG">
            <a:extLst>
              <a:ext uri="{FF2B5EF4-FFF2-40B4-BE49-F238E27FC236}">
                <a16:creationId xmlns:a16="http://schemas.microsoft.com/office/drawing/2014/main" id="{0088CECF-D2C8-3F3E-8914-2DE35E82DEC2}"/>
              </a:ext>
            </a:extLst>
          </p:cNvPr>
          <p:cNvPicPr>
            <a:picLocks noChangeAspect="1"/>
          </p:cNvPicPr>
          <p:nvPr/>
        </p:nvPicPr>
        <p:blipFill>
          <a:blip r:embed="rId3" cstate="print"/>
          <a:srcRect/>
          <a:stretch>
            <a:fillRect/>
          </a:stretch>
        </p:blipFill>
        <p:spPr bwMode="auto">
          <a:xfrm>
            <a:off x="8305800" y="0"/>
            <a:ext cx="838200" cy="685800"/>
          </a:xfrm>
          <a:prstGeom prst="rect">
            <a:avLst/>
          </a:prstGeom>
          <a:noFill/>
          <a:ln w="9525">
            <a:noFill/>
            <a:miter lim="800000"/>
            <a:headEnd/>
            <a:tailEnd/>
          </a:ln>
        </p:spPr>
      </p:pic>
      <p:sp>
        <p:nvSpPr>
          <p:cNvPr id="9" name="TextBox 8">
            <a:extLst>
              <a:ext uri="{FF2B5EF4-FFF2-40B4-BE49-F238E27FC236}">
                <a16:creationId xmlns:a16="http://schemas.microsoft.com/office/drawing/2014/main" id="{C190A756-F4F5-5FC6-80BD-78EBF153A698}"/>
              </a:ext>
            </a:extLst>
          </p:cNvPr>
          <p:cNvSpPr txBox="1"/>
          <p:nvPr/>
        </p:nvSpPr>
        <p:spPr>
          <a:xfrm>
            <a:off x="0" y="654158"/>
            <a:ext cx="4852114" cy="369332"/>
          </a:xfrm>
          <a:prstGeom prst="rect">
            <a:avLst/>
          </a:prstGeom>
          <a:noFill/>
        </p:spPr>
        <p:txBody>
          <a:bodyPr wrap="square">
            <a:spAutoFit/>
          </a:bodyPr>
          <a:lstStyle/>
          <a:p>
            <a:r>
              <a:rPr lang="en-IN" b="1" dirty="0">
                <a:solidFill>
                  <a:schemeClr val="bg1">
                    <a:lumMod val="95000"/>
                    <a:lumOff val="5000"/>
                  </a:schemeClr>
                </a:solidFill>
              </a:rPr>
              <a:t>Existing Works:</a:t>
            </a:r>
          </a:p>
        </p:txBody>
      </p:sp>
      <p:graphicFrame>
        <p:nvGraphicFramePr>
          <p:cNvPr id="2" name="Table 1">
            <a:extLst>
              <a:ext uri="{FF2B5EF4-FFF2-40B4-BE49-F238E27FC236}">
                <a16:creationId xmlns:a16="http://schemas.microsoft.com/office/drawing/2014/main" id="{BF58FF86-1353-3107-3B53-7BDFA379B698}"/>
              </a:ext>
            </a:extLst>
          </p:cNvPr>
          <p:cNvGraphicFramePr>
            <a:graphicFrameLocks noGrp="1"/>
          </p:cNvGraphicFramePr>
          <p:nvPr>
            <p:extLst>
              <p:ext uri="{D42A27DB-BD31-4B8C-83A1-F6EECF244321}">
                <p14:modId xmlns:p14="http://schemas.microsoft.com/office/powerpoint/2010/main" val="2532300297"/>
              </p:ext>
            </p:extLst>
          </p:nvPr>
        </p:nvGraphicFramePr>
        <p:xfrm>
          <a:off x="228600" y="1028701"/>
          <a:ext cx="8686801" cy="3912099"/>
        </p:xfrm>
        <a:graphic>
          <a:graphicData uri="http://schemas.openxmlformats.org/drawingml/2006/table">
            <a:tbl>
              <a:tblPr firstRow="1" firstCol="1" bandRow="1">
                <a:tableStyleId>{5C22544A-7EE6-4342-B048-85BDC9FD1C3A}</a:tableStyleId>
              </a:tblPr>
              <a:tblGrid>
                <a:gridCol w="704545">
                  <a:extLst>
                    <a:ext uri="{9D8B030D-6E8A-4147-A177-3AD203B41FA5}">
                      <a16:colId xmlns:a16="http://schemas.microsoft.com/office/drawing/2014/main" val="2683444789"/>
                    </a:ext>
                  </a:extLst>
                </a:gridCol>
                <a:gridCol w="1330376">
                  <a:extLst>
                    <a:ext uri="{9D8B030D-6E8A-4147-A177-3AD203B41FA5}">
                      <a16:colId xmlns:a16="http://schemas.microsoft.com/office/drawing/2014/main" val="2873962142"/>
                    </a:ext>
                  </a:extLst>
                </a:gridCol>
                <a:gridCol w="1330376">
                  <a:extLst>
                    <a:ext uri="{9D8B030D-6E8A-4147-A177-3AD203B41FA5}">
                      <a16:colId xmlns:a16="http://schemas.microsoft.com/office/drawing/2014/main" val="1777832140"/>
                    </a:ext>
                  </a:extLst>
                </a:gridCol>
                <a:gridCol w="1330376">
                  <a:extLst>
                    <a:ext uri="{9D8B030D-6E8A-4147-A177-3AD203B41FA5}">
                      <a16:colId xmlns:a16="http://schemas.microsoft.com/office/drawing/2014/main" val="2690644185"/>
                    </a:ext>
                  </a:extLst>
                </a:gridCol>
                <a:gridCol w="1330376">
                  <a:extLst>
                    <a:ext uri="{9D8B030D-6E8A-4147-A177-3AD203B41FA5}">
                      <a16:colId xmlns:a16="http://schemas.microsoft.com/office/drawing/2014/main" val="1834045277"/>
                    </a:ext>
                  </a:extLst>
                </a:gridCol>
                <a:gridCol w="1330376">
                  <a:extLst>
                    <a:ext uri="{9D8B030D-6E8A-4147-A177-3AD203B41FA5}">
                      <a16:colId xmlns:a16="http://schemas.microsoft.com/office/drawing/2014/main" val="3274145284"/>
                    </a:ext>
                  </a:extLst>
                </a:gridCol>
                <a:gridCol w="1330376">
                  <a:extLst>
                    <a:ext uri="{9D8B030D-6E8A-4147-A177-3AD203B41FA5}">
                      <a16:colId xmlns:a16="http://schemas.microsoft.com/office/drawing/2014/main" val="2781118887"/>
                    </a:ext>
                  </a:extLst>
                </a:gridCol>
              </a:tblGrid>
              <a:tr h="229413">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 No</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Author(s)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Year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Technique Used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Dataset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Contribution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Limitation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1100589828"/>
                  </a:ext>
                </a:extLst>
              </a:tr>
              <a:tr h="478959">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1</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Buczak and Guven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2016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Machine Learning Survey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KDD, NSL-KDD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Reviewed ML techniques for intrusion detection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No decision or response mechanism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4285261042"/>
                  </a:ext>
                </a:extLst>
              </a:tr>
              <a:tr h="478959">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Sharafaldin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2018</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ML-based IDS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CICIDS 2017</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Introduced realistic intrusion detection dataset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Large dataset, high complexity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2010030423"/>
                  </a:ext>
                </a:extLst>
              </a:tr>
              <a:tr h="497282">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3</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Ahmad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2019</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Deep Learning</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UNSW-NB15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Improved attack detection accuracy using deep models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Lack of explainability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1078462541"/>
                  </a:ext>
                </a:extLst>
              </a:tr>
              <a:tr h="478959">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4</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Ferrag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2023</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ML &amp; DL Survey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Multiple datasets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Comprehensive survey on intrusion detection techniques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Focused only on detection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3874389160"/>
                  </a:ext>
                </a:extLst>
              </a:tr>
              <a:tr h="478959">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Hindy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2024</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AI-based IDS</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Network traffic data</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Applied AI techniques for cyber attack detection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No response recommendation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2564121170"/>
                  </a:ext>
                </a:extLst>
              </a:tr>
              <a:tr h="478959">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Yang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2025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Deep Neural Networks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CICIDS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Enhanced intrusion detection using deep learning</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High computational cost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2616973808"/>
                  </a:ext>
                </a:extLst>
              </a:tr>
              <a:tr h="478959">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7</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Boutassetta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2026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Hybrid IDS (Signature + Anomaly)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Multiple datasets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Improved detection using hybrid approach</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Complex system integration</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403" marR="40403" marT="0" marB="0"/>
                </a:tc>
                <a:extLst>
                  <a:ext uri="{0D108BD9-81ED-4DB2-BD59-A6C34878D82A}">
                    <a16:rowId xmlns:a16="http://schemas.microsoft.com/office/drawing/2014/main" val="196491965"/>
                  </a:ext>
                </a:extLst>
              </a:tr>
            </a:tbl>
          </a:graphicData>
        </a:graphic>
      </p:graphicFrame>
    </p:spTree>
    <p:extLst>
      <p:ext uri="{BB962C8B-B14F-4D97-AF65-F5344CB8AC3E}">
        <p14:creationId xmlns:p14="http://schemas.microsoft.com/office/powerpoint/2010/main" val="252449058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4C11-2777-C801-5FA1-0667D377E68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83F3F0-7596-4099-4E09-2A80AF15A95C}"/>
              </a:ext>
            </a:extLst>
          </p:cNvPr>
          <p:cNvSpPr>
            <a:spLocks noGrp="1"/>
          </p:cNvSpPr>
          <p:nvPr>
            <p:ph type="sldNum" sz="quarter" idx="12"/>
          </p:nvPr>
        </p:nvSpPr>
        <p:spPr/>
        <p:txBody>
          <a:bodyPr/>
          <a:lstStyle/>
          <a:p>
            <a:pPr>
              <a:defRPr/>
            </a:pPr>
            <a:fld id="{FAB6ED7B-5CA3-4472-B01C-99CB7689D1EA}" type="slidenum">
              <a:rPr lang="en-US" smtClean="0"/>
              <a:pPr>
                <a:defRPr/>
              </a:pPr>
              <a:t>7</a:t>
            </a:fld>
            <a:endParaRPr lang="en-US"/>
          </a:p>
        </p:txBody>
      </p:sp>
      <p:sp>
        <p:nvSpPr>
          <p:cNvPr id="5" name="Rectangle 4">
            <a:extLst>
              <a:ext uri="{FF2B5EF4-FFF2-40B4-BE49-F238E27FC236}">
                <a16:creationId xmlns:a16="http://schemas.microsoft.com/office/drawing/2014/main" id="{4A9F64A7-25A2-929A-47B4-BC8C93AC1214}"/>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277E50B4-0541-B723-50D7-0D04A57EDBA0}"/>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ABD5BC66-36AB-B02E-47A7-E1C8E8CE53F2}"/>
              </a:ext>
            </a:extLst>
          </p:cNvPr>
          <p:cNvSpPr/>
          <p:nvPr/>
        </p:nvSpPr>
        <p:spPr>
          <a:xfrm>
            <a:off x="304800" y="922697"/>
            <a:ext cx="8305800" cy="2308324"/>
          </a:xfrm>
          <a:prstGeom prst="rect">
            <a:avLst/>
          </a:prstGeom>
        </p:spPr>
        <p:txBody>
          <a:bodyPr wrap="square">
            <a:spAutoFit/>
          </a:bodyPr>
          <a:lstStyle/>
          <a:p>
            <a:pPr lvl="0" fontAlgn="auto">
              <a:spcBef>
                <a:spcPct val="20000"/>
              </a:spcBef>
              <a:spcAft>
                <a:spcPts val="0"/>
              </a:spcAft>
              <a:tabLst>
                <a:tab pos="177800" algn="l"/>
              </a:tabLst>
            </a:pPr>
            <a:r>
              <a:rPr lang="en-US" sz="2400" b="1" dirty="0">
                <a:solidFill>
                  <a:schemeClr val="bg1"/>
                </a:solidFill>
                <a:latin typeface="Times New Roman" panose="02020603050405020304" pitchFamily="18" charset="0"/>
                <a:cs typeface="Times New Roman" panose="02020603050405020304" pitchFamily="18" charset="0"/>
              </a:rPr>
              <a:t>Gaps in Existing Solutions:</a:t>
            </a: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US" sz="2000"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FE59AE84-BD2B-01D9-EF70-4512F9001854}"/>
              </a:ext>
            </a:extLst>
          </p:cNvPr>
          <p:cNvSpPr>
            <a:spLocks noChangeArrowheads="1"/>
          </p:cNvSpPr>
          <p:nvPr/>
        </p:nvSpPr>
        <p:spPr bwMode="auto">
          <a:xfrm>
            <a:off x="228600" y="2046273"/>
            <a:ext cx="8229600" cy="76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ts val="1800"/>
              </a:lnSpc>
              <a:spcBef>
                <a:spcPct val="0"/>
              </a:spcBef>
              <a:spcAft>
                <a:spcPct val="0"/>
              </a:spcAft>
            </a:pPr>
            <a:endParaRPr lang="en-US" altLang="en-US" sz="14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lnSpc>
                <a:spcPts val="1800"/>
              </a:lnSpc>
              <a:spcBef>
                <a:spcPct val="0"/>
              </a:spcBef>
              <a:spcAft>
                <a:spcPct val="0"/>
              </a:spcAft>
              <a:buFontTx/>
              <a:buChar char="•"/>
            </a:pPr>
            <a:endParaRPr lang="en-US" altLang="en-US" sz="14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lnSpc>
                <a:spcPts val="1800"/>
              </a:lnSpc>
              <a:spcBef>
                <a:spcPct val="0"/>
              </a:spcBef>
              <a:spcAft>
                <a:spcPct val="0"/>
              </a:spcAft>
              <a:buFontTx/>
              <a:buChar char="•"/>
            </a:pPr>
            <a:endParaRPr lang="en-US" altLang="en-US" sz="1400" dirty="0">
              <a:solidFill>
                <a:schemeClr val="bg1"/>
              </a:solidFill>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311C4366-4351-CB85-4EB4-00A9B6F1A609}"/>
              </a:ext>
            </a:extLst>
          </p:cNvPr>
          <p:cNvSpPr>
            <a:spLocks noChangeArrowheads="1"/>
          </p:cNvSpPr>
          <p:nvPr/>
        </p:nvSpPr>
        <p:spPr bwMode="auto">
          <a:xfrm>
            <a:off x="501380" y="1553735"/>
            <a:ext cx="487505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Focus only on intrusion detection, not response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High number of alerts leading to alert fatigue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No severity-based prioritization of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Lack of intelligent decision-making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Manual intervention required for response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Limited explainability of detected threats</a:t>
            </a:r>
          </a:p>
        </p:txBody>
      </p:sp>
    </p:spTree>
    <p:extLst>
      <p:ext uri="{BB962C8B-B14F-4D97-AF65-F5344CB8AC3E}">
        <p14:creationId xmlns:p14="http://schemas.microsoft.com/office/powerpoint/2010/main" val="13858151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567E0-F1D1-FCA7-3213-192E2E4DF6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3FD725-CCEE-7FD0-A6B9-B67E4D4AA701}"/>
              </a:ext>
            </a:extLst>
          </p:cNvPr>
          <p:cNvSpPr>
            <a:spLocks noGrp="1"/>
          </p:cNvSpPr>
          <p:nvPr>
            <p:ph type="sldNum" sz="quarter" idx="12"/>
          </p:nvPr>
        </p:nvSpPr>
        <p:spPr/>
        <p:txBody>
          <a:bodyPr/>
          <a:lstStyle/>
          <a:p>
            <a:pPr>
              <a:defRPr/>
            </a:pPr>
            <a:fld id="{FAB6ED7B-5CA3-4472-B01C-99CB7689D1EA}" type="slidenum">
              <a:rPr lang="en-US" smtClean="0"/>
              <a:pPr>
                <a:defRPr/>
              </a:pPr>
              <a:t>8</a:t>
            </a:fld>
            <a:endParaRPr lang="en-US"/>
          </a:p>
        </p:txBody>
      </p:sp>
      <p:sp>
        <p:nvSpPr>
          <p:cNvPr id="5" name="Rectangle 4">
            <a:extLst>
              <a:ext uri="{FF2B5EF4-FFF2-40B4-BE49-F238E27FC236}">
                <a16:creationId xmlns:a16="http://schemas.microsoft.com/office/drawing/2014/main" id="{EC90C9C4-4A78-7243-6472-092833603537}"/>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A28EDD09-049F-BA42-271A-11D81623D179}"/>
              </a:ext>
            </a:extLst>
          </p:cNvPr>
          <p:cNvPicPr>
            <a:picLocks noChangeAspect="1"/>
          </p:cNvPicPr>
          <p:nvPr/>
        </p:nvPicPr>
        <p:blipFill>
          <a:blip r:embed="rId3" cstate="print"/>
          <a:srcRect/>
          <a:stretch>
            <a:fillRect/>
          </a:stretch>
        </p:blipFill>
        <p:spPr bwMode="auto">
          <a:xfrm>
            <a:off x="8305800" y="0"/>
            <a:ext cx="838200" cy="685800"/>
          </a:xfrm>
          <a:prstGeom prst="rect">
            <a:avLst/>
          </a:prstGeom>
          <a:noFill/>
          <a:ln w="9525">
            <a:noFill/>
            <a:miter lim="800000"/>
            <a:headEnd/>
            <a:tailEnd/>
          </a:ln>
        </p:spPr>
      </p:pic>
      <p:sp>
        <p:nvSpPr>
          <p:cNvPr id="3" name="TextBox 2">
            <a:extLst>
              <a:ext uri="{FF2B5EF4-FFF2-40B4-BE49-F238E27FC236}">
                <a16:creationId xmlns:a16="http://schemas.microsoft.com/office/drawing/2014/main" id="{591D71FA-B8F3-51FA-DA15-07AFFB4B2D47}"/>
              </a:ext>
            </a:extLst>
          </p:cNvPr>
          <p:cNvSpPr txBox="1"/>
          <p:nvPr/>
        </p:nvSpPr>
        <p:spPr>
          <a:xfrm>
            <a:off x="0" y="685800"/>
            <a:ext cx="8991600" cy="400110"/>
          </a:xfrm>
          <a:prstGeom prst="rect">
            <a:avLst/>
          </a:prstGeom>
          <a:noFill/>
        </p:spPr>
        <p:txBody>
          <a:bodyPr wrap="square">
            <a:spAutoFit/>
          </a:bodyPr>
          <a:lstStyle/>
          <a:p>
            <a:r>
              <a:rPr lang="en-US" sz="2000" b="1" dirty="0">
                <a:solidFill>
                  <a:schemeClr val="bg1"/>
                </a:solidFill>
              </a:rPr>
              <a:t>Proposed Work (Algorithm / Techniques / Methods / Approaches)</a:t>
            </a:r>
            <a:endParaRPr lang="en-IN" sz="2000" b="1" dirty="0">
              <a:solidFill>
                <a:schemeClr val="bg1"/>
              </a:solidFill>
            </a:endParaRPr>
          </a:p>
        </p:txBody>
      </p:sp>
      <p:sp>
        <p:nvSpPr>
          <p:cNvPr id="15" name="TextBox 14">
            <a:extLst>
              <a:ext uri="{FF2B5EF4-FFF2-40B4-BE49-F238E27FC236}">
                <a16:creationId xmlns:a16="http://schemas.microsoft.com/office/drawing/2014/main" id="{F44362DD-A8CB-58FE-341F-DE86D6A353D7}"/>
              </a:ext>
            </a:extLst>
          </p:cNvPr>
          <p:cNvSpPr txBox="1"/>
          <p:nvPr/>
        </p:nvSpPr>
        <p:spPr>
          <a:xfrm>
            <a:off x="76200" y="1059300"/>
            <a:ext cx="8839200" cy="3970318"/>
          </a:xfrm>
          <a:prstGeom prst="rect">
            <a:avLst/>
          </a:prstGeom>
          <a:noFill/>
        </p:spPr>
        <p:txBody>
          <a:bodyPr wrap="square">
            <a:spAutoFit/>
          </a:bodyPr>
          <a:lstStyle/>
          <a:p>
            <a:pPr>
              <a:buNone/>
            </a:pPr>
            <a:r>
              <a:rPr lang="en-IN" sz="1400" b="1" dirty="0">
                <a:solidFill>
                  <a:schemeClr val="bg1"/>
                </a:solidFill>
                <a:latin typeface="Times New Roman" panose="02020603050405020304" pitchFamily="18" charset="0"/>
                <a:cs typeface="Times New Roman" panose="02020603050405020304" pitchFamily="18" charset="0"/>
              </a:rPr>
              <a:t>Algorithms Used:</a:t>
            </a:r>
          </a:p>
          <a:p>
            <a:pPr>
              <a:buNone/>
            </a:pPr>
            <a:r>
              <a:rPr lang="en-IN" sz="1400" dirty="0">
                <a:solidFill>
                  <a:schemeClr val="bg1"/>
                </a:solidFill>
                <a:latin typeface="Times New Roman" panose="02020603050405020304" pitchFamily="18" charset="0"/>
                <a:cs typeface="Times New Roman" panose="02020603050405020304" pitchFamily="18" charset="0"/>
              </a:rPr>
              <a:t>➤ </a:t>
            </a:r>
            <a:r>
              <a:rPr lang="en-IN" sz="1400" b="1" dirty="0">
                <a:solidFill>
                  <a:schemeClr val="bg1"/>
                </a:solidFill>
                <a:latin typeface="Times New Roman" panose="02020603050405020304" pitchFamily="18" charset="0"/>
                <a:cs typeface="Times New Roman" panose="02020603050405020304" pitchFamily="18" charset="0"/>
              </a:rPr>
              <a:t>Network Intrusion Detection Algorithm</a:t>
            </a:r>
            <a:endParaRPr lang="en-IN" sz="1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Algorithm Used:</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Machine Learning Classification Algorithms</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a:t>
            </a:r>
            <a:r>
              <a:rPr lang="en-IN" sz="1400" dirty="0" err="1">
                <a:solidFill>
                  <a:schemeClr val="bg1"/>
                </a:solidFill>
                <a:latin typeface="Times New Roman" panose="02020603050405020304" pitchFamily="18" charset="0"/>
                <a:cs typeface="Times New Roman" panose="02020603050405020304" pitchFamily="18" charset="0"/>
              </a:rPr>
              <a:t>XGBoost</a:t>
            </a:r>
            <a:r>
              <a:rPr lang="en-IN" sz="1400" dirty="0">
                <a:solidFill>
                  <a:schemeClr val="bg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Purpose:</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a:t>
            </a:r>
            <a:r>
              <a:rPr lang="en-IN" sz="1400" dirty="0" err="1">
                <a:solidFill>
                  <a:schemeClr val="bg1"/>
                </a:solidFill>
                <a:latin typeface="Times New Roman" panose="02020603050405020304" pitchFamily="18" charset="0"/>
                <a:cs typeface="Times New Roman" panose="02020603050405020304" pitchFamily="18" charset="0"/>
              </a:rPr>
              <a:t>Analyze</a:t>
            </a:r>
            <a:r>
              <a:rPr lang="en-IN" sz="1400" dirty="0">
                <a:solidFill>
                  <a:schemeClr val="bg1"/>
                </a:solidFill>
                <a:latin typeface="Times New Roman" panose="02020603050405020304" pitchFamily="18" charset="0"/>
                <a:cs typeface="Times New Roman" panose="02020603050405020304" pitchFamily="18" charset="0"/>
              </a:rPr>
              <a:t> network traffic data</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Classify traffic as </a:t>
            </a:r>
            <a:r>
              <a:rPr lang="en-IN" sz="1400" b="1" dirty="0">
                <a:solidFill>
                  <a:schemeClr val="bg1"/>
                </a:solidFill>
                <a:latin typeface="Times New Roman" panose="02020603050405020304" pitchFamily="18" charset="0"/>
                <a:cs typeface="Times New Roman" panose="02020603050405020304" pitchFamily="18" charset="0"/>
              </a:rPr>
              <a:t>Normal</a:t>
            </a:r>
            <a:r>
              <a:rPr lang="en-IN" sz="1400" dirty="0">
                <a:solidFill>
                  <a:schemeClr val="bg1"/>
                </a:solidFill>
                <a:latin typeface="Times New Roman" panose="02020603050405020304" pitchFamily="18" charset="0"/>
                <a:cs typeface="Times New Roman" panose="02020603050405020304" pitchFamily="18" charset="0"/>
              </a:rPr>
              <a:t> or </a:t>
            </a:r>
            <a:r>
              <a:rPr lang="en-IN" sz="1400" b="1" dirty="0">
                <a:solidFill>
                  <a:schemeClr val="bg1"/>
                </a:solidFill>
                <a:latin typeface="Times New Roman" panose="02020603050405020304" pitchFamily="18" charset="0"/>
                <a:cs typeface="Times New Roman" panose="02020603050405020304" pitchFamily="18" charset="0"/>
              </a:rPr>
              <a:t>Malicious</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Detect different types of network attacks</a:t>
            </a:r>
          </a:p>
          <a:p>
            <a:pPr>
              <a:buNone/>
            </a:pPr>
            <a:endParaRPr lang="en-IN" sz="1400" dirty="0">
              <a:solidFill>
                <a:schemeClr val="bg1"/>
              </a:solidFill>
              <a:latin typeface="Times New Roman" panose="02020603050405020304" pitchFamily="18" charset="0"/>
              <a:cs typeface="Times New Roman" panose="02020603050405020304" pitchFamily="18" charset="0"/>
            </a:endParaRPr>
          </a:p>
          <a:p>
            <a:pPr>
              <a:buNone/>
            </a:pPr>
            <a:r>
              <a:rPr lang="en-IN" sz="1400" dirty="0">
                <a:solidFill>
                  <a:schemeClr val="bg1"/>
                </a:solidFill>
                <a:latin typeface="Times New Roman" panose="02020603050405020304" pitchFamily="18" charset="0"/>
                <a:cs typeface="Times New Roman" panose="02020603050405020304" pitchFamily="18" charset="0"/>
              </a:rPr>
              <a:t>➤ </a:t>
            </a:r>
            <a:r>
              <a:rPr lang="en-IN" sz="1400" b="1" dirty="0">
                <a:solidFill>
                  <a:schemeClr val="bg1"/>
                </a:solidFill>
                <a:latin typeface="Times New Roman" panose="02020603050405020304" pitchFamily="18" charset="0"/>
                <a:cs typeface="Times New Roman" panose="02020603050405020304" pitchFamily="18" charset="0"/>
              </a:rPr>
              <a:t>Artificial Intelligence–Based Decision Engine</a:t>
            </a:r>
            <a:endParaRPr lang="en-IN" sz="1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Technique Used:</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Rule-Based Reasoning and Severity Scoring</a:t>
            </a:r>
          </a:p>
          <a:p>
            <a:pPr>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Purpose:</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Evaluate the output of the ML model</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Assign severity levels (Low / Medium / High)</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Prioritize detected intrusions</a:t>
            </a:r>
            <a:br>
              <a:rPr lang="en-IN" sz="1400" dirty="0">
                <a:solidFill>
                  <a:schemeClr val="bg1"/>
                </a:solidFill>
                <a:latin typeface="Times New Roman" panose="02020603050405020304" pitchFamily="18" charset="0"/>
                <a:cs typeface="Times New Roman" panose="02020603050405020304" pitchFamily="18" charset="0"/>
              </a:rPr>
            </a:br>
            <a:r>
              <a:rPr lang="en-IN" sz="1400" dirty="0">
                <a:solidFill>
                  <a:schemeClr val="bg1"/>
                </a:solidFill>
                <a:latin typeface="Times New Roman" panose="02020603050405020304" pitchFamily="18" charset="0"/>
                <a:cs typeface="Times New Roman" panose="02020603050405020304" pitchFamily="18" charset="0"/>
              </a:rPr>
              <a:t>• Recommend suitable response actions</a:t>
            </a:r>
          </a:p>
        </p:txBody>
      </p:sp>
    </p:spTree>
    <p:extLst>
      <p:ext uri="{BB962C8B-B14F-4D97-AF65-F5344CB8AC3E}">
        <p14:creationId xmlns:p14="http://schemas.microsoft.com/office/powerpoint/2010/main" val="265151208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EB13C-5D22-239F-DEB7-AAA857340BD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41823D-12F4-BE80-DEEE-94AB0028D54D}"/>
              </a:ext>
            </a:extLst>
          </p:cNvPr>
          <p:cNvSpPr>
            <a:spLocks noGrp="1"/>
          </p:cNvSpPr>
          <p:nvPr>
            <p:ph type="sldNum" sz="quarter" idx="12"/>
          </p:nvPr>
        </p:nvSpPr>
        <p:spPr/>
        <p:txBody>
          <a:bodyPr/>
          <a:lstStyle/>
          <a:p>
            <a:pPr>
              <a:defRPr/>
            </a:pPr>
            <a:fld id="{FAB6ED7B-5CA3-4472-B01C-99CB7689D1EA}" type="slidenum">
              <a:rPr lang="en-US" smtClean="0"/>
              <a:pPr>
                <a:defRPr/>
              </a:pPr>
              <a:t>9</a:t>
            </a:fld>
            <a:endParaRPr lang="en-US"/>
          </a:p>
        </p:txBody>
      </p:sp>
      <p:sp>
        <p:nvSpPr>
          <p:cNvPr id="5" name="Rectangle 4">
            <a:extLst>
              <a:ext uri="{FF2B5EF4-FFF2-40B4-BE49-F238E27FC236}">
                <a16:creationId xmlns:a16="http://schemas.microsoft.com/office/drawing/2014/main" id="{C02CABF2-9299-61EB-60B6-77298CF5F890}"/>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5CAB0C7A-B244-271F-0BB8-64EC798F24B5}"/>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3" name="TextBox 2">
            <a:extLst>
              <a:ext uri="{FF2B5EF4-FFF2-40B4-BE49-F238E27FC236}">
                <a16:creationId xmlns:a16="http://schemas.microsoft.com/office/drawing/2014/main" id="{DC59475D-270B-B964-411E-C576D652E269}"/>
              </a:ext>
            </a:extLst>
          </p:cNvPr>
          <p:cNvSpPr txBox="1"/>
          <p:nvPr/>
        </p:nvSpPr>
        <p:spPr>
          <a:xfrm>
            <a:off x="0" y="685800"/>
            <a:ext cx="8991600" cy="400110"/>
          </a:xfrm>
          <a:prstGeom prst="rect">
            <a:avLst/>
          </a:prstGeom>
          <a:noFill/>
        </p:spPr>
        <p:txBody>
          <a:bodyPr wrap="square">
            <a:spAutoFit/>
          </a:bodyPr>
          <a:lstStyle/>
          <a:p>
            <a:r>
              <a:rPr lang="en-US" sz="2000" b="1" dirty="0">
                <a:solidFill>
                  <a:schemeClr val="bg1"/>
                </a:solidFill>
              </a:rPr>
              <a:t>Proposed Work (Algorithm / Techniques / Methods / Approaches)</a:t>
            </a:r>
            <a:endParaRPr lang="en-IN" sz="2000" b="1" dirty="0">
              <a:solidFill>
                <a:schemeClr val="bg1"/>
              </a:solidFill>
            </a:endParaRPr>
          </a:p>
        </p:txBody>
      </p:sp>
      <p:sp>
        <p:nvSpPr>
          <p:cNvPr id="15" name="TextBox 14">
            <a:extLst>
              <a:ext uri="{FF2B5EF4-FFF2-40B4-BE49-F238E27FC236}">
                <a16:creationId xmlns:a16="http://schemas.microsoft.com/office/drawing/2014/main" id="{FC796EEF-C529-3F6B-5EC8-41D1797E74A9}"/>
              </a:ext>
            </a:extLst>
          </p:cNvPr>
          <p:cNvSpPr txBox="1"/>
          <p:nvPr/>
        </p:nvSpPr>
        <p:spPr>
          <a:xfrm>
            <a:off x="34413" y="1058051"/>
            <a:ext cx="8839200" cy="3785652"/>
          </a:xfrm>
          <a:prstGeom prst="rect">
            <a:avLst/>
          </a:prstGeom>
          <a:noFill/>
        </p:spPr>
        <p:txBody>
          <a:bodyPr wrap="square">
            <a:spAutoFit/>
          </a:bodyPr>
          <a:lstStyle/>
          <a:p>
            <a:r>
              <a:rPr lang="en-US" sz="1600" b="1" dirty="0">
                <a:solidFill>
                  <a:schemeClr val="bg1"/>
                </a:solidFill>
                <a:latin typeface="Times New Roman" panose="02020603050405020304" pitchFamily="18" charset="0"/>
                <a:cs typeface="Times New Roman" panose="02020603050405020304" pitchFamily="18" charset="0"/>
              </a:rPr>
              <a:t>Data Preprocessing and Feature Extraction</a:t>
            </a:r>
            <a:endParaRPr lang="en-US" sz="1600" dirty="0">
              <a:solidFill>
                <a:schemeClr val="bg1"/>
              </a:solidFill>
              <a:latin typeface="Times New Roman" panose="02020603050405020304" pitchFamily="18" charset="0"/>
              <a:cs typeface="Times New Roman" panose="02020603050405020304" pitchFamily="18" charset="0"/>
            </a:endParaRPr>
          </a:p>
          <a:p>
            <a:r>
              <a:rPr lang="en-US" sz="1600" b="1" dirty="0">
                <a:solidFill>
                  <a:schemeClr val="bg1"/>
                </a:solidFill>
                <a:latin typeface="Times New Roman" panose="02020603050405020304" pitchFamily="18" charset="0"/>
                <a:cs typeface="Times New Roman" panose="02020603050405020304" pitchFamily="18" charset="0"/>
              </a:rPr>
              <a:t>Techniques Used:</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Data Cleaning, Encoding, Normalization</a:t>
            </a:r>
          </a:p>
          <a:p>
            <a:r>
              <a:rPr lang="en-US" sz="1600" b="1" dirty="0">
                <a:solidFill>
                  <a:schemeClr val="bg1"/>
                </a:solidFill>
                <a:latin typeface="Times New Roman" panose="02020603050405020304" pitchFamily="18" charset="0"/>
                <a:cs typeface="Times New Roman" panose="02020603050405020304" pitchFamily="18" charset="0"/>
              </a:rPr>
              <a:t>Purpose:</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 Remove irrelevant and noisy data</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 Convert categorical data into numerical form</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 Improve machine learning model performance</a:t>
            </a:r>
          </a:p>
          <a:p>
            <a:endParaRPr lang="en-US" sz="1600" dirty="0">
              <a:solidFill>
                <a:schemeClr val="bg1"/>
              </a:solidFill>
              <a:latin typeface="Times New Roman" panose="02020603050405020304" pitchFamily="18" charset="0"/>
              <a:cs typeface="Times New Roman" panose="02020603050405020304" pitchFamily="18" charset="0"/>
            </a:endParaRPr>
          </a:p>
          <a:p>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Response Recommendation Mechanism</a:t>
            </a:r>
            <a:endParaRPr lang="en-US" sz="1600" dirty="0">
              <a:solidFill>
                <a:schemeClr val="bg1"/>
              </a:solidFill>
              <a:latin typeface="Times New Roman" panose="02020603050405020304" pitchFamily="18" charset="0"/>
              <a:cs typeface="Times New Roman" panose="02020603050405020304" pitchFamily="18" charset="0"/>
            </a:endParaRPr>
          </a:p>
          <a:p>
            <a:r>
              <a:rPr lang="en-US" sz="1600" b="1" dirty="0">
                <a:solidFill>
                  <a:schemeClr val="bg1"/>
                </a:solidFill>
                <a:latin typeface="Times New Roman" panose="02020603050405020304" pitchFamily="18" charset="0"/>
                <a:cs typeface="Times New Roman" panose="02020603050405020304" pitchFamily="18" charset="0"/>
              </a:rPr>
              <a:t>Approach Used:</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Threshold-based and Rule-based Decision Logic</a:t>
            </a:r>
          </a:p>
          <a:p>
            <a:r>
              <a:rPr lang="en-US" sz="1600" b="1" dirty="0">
                <a:solidFill>
                  <a:schemeClr val="bg1"/>
                </a:solidFill>
                <a:latin typeface="Times New Roman" panose="02020603050405020304" pitchFamily="18" charset="0"/>
                <a:cs typeface="Times New Roman" panose="02020603050405020304" pitchFamily="18" charset="0"/>
              </a:rPr>
              <a:t>Purpose:</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 Suggest actions such as monitoring, alerting, or blocking</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 Reduce alert overload</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 Assist administrators in decision making</a:t>
            </a:r>
          </a:p>
        </p:txBody>
      </p:sp>
    </p:spTree>
    <p:extLst>
      <p:ext uri="{BB962C8B-B14F-4D97-AF65-F5344CB8AC3E}">
        <p14:creationId xmlns:p14="http://schemas.microsoft.com/office/powerpoint/2010/main" val="391824387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FD94ED34-6C75-16DF-89FB-F5134383AD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3A2415-41EF-ED4D-7BCD-BBF0BE6F41D5}"/>
              </a:ext>
            </a:extLst>
          </p:cNvPr>
          <p:cNvSpPr>
            <a:spLocks noGrp="1"/>
          </p:cNvSpPr>
          <p:nvPr>
            <p:ph type="sldNum" sz="quarter" idx="12"/>
          </p:nvPr>
        </p:nvSpPr>
        <p:spPr/>
        <p:txBody>
          <a:bodyPr/>
          <a:lstStyle/>
          <a:p>
            <a:pPr>
              <a:defRPr/>
            </a:pPr>
            <a:fld id="{FAB6ED7B-5CA3-4472-B01C-99CB7689D1EA}" type="slidenum">
              <a:rPr lang="en-US" smtClean="0"/>
              <a:pPr>
                <a:defRPr/>
              </a:pPr>
              <a:t>10</a:t>
            </a:fld>
            <a:endParaRPr lang="en-US"/>
          </a:p>
        </p:txBody>
      </p:sp>
      <p:sp>
        <p:nvSpPr>
          <p:cNvPr id="5" name="Rectangle 4">
            <a:extLst>
              <a:ext uri="{FF2B5EF4-FFF2-40B4-BE49-F238E27FC236}">
                <a16:creationId xmlns:a16="http://schemas.microsoft.com/office/drawing/2014/main" id="{DF62A92C-46D0-6054-6419-3E1D4E39A8EB}"/>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5BB59A1D-E00F-E35B-6F7F-D6BE6EB1A26B}"/>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C1FB8279-3466-A72C-0008-80F4FA281786}"/>
              </a:ext>
            </a:extLst>
          </p:cNvPr>
          <p:cNvSpPr/>
          <p:nvPr/>
        </p:nvSpPr>
        <p:spPr>
          <a:xfrm>
            <a:off x="76200" y="971550"/>
            <a:ext cx="8991600" cy="461665"/>
          </a:xfrm>
          <a:prstGeom prst="rect">
            <a:avLst/>
          </a:prstGeom>
        </p:spPr>
        <p:txBody>
          <a:bodyPr wrap="square">
            <a:spAutoFit/>
          </a:bodyPr>
          <a:lstStyle/>
          <a:p>
            <a:pPr lvl="0" fontAlgn="auto">
              <a:spcBef>
                <a:spcPct val="20000"/>
              </a:spcBef>
              <a:spcAft>
                <a:spcPts val="0"/>
              </a:spcAft>
              <a:tabLst>
                <a:tab pos="177800" algn="l"/>
              </a:tabLst>
            </a:pPr>
            <a:r>
              <a:rPr lang="en-US" sz="1600" b="1"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Experiments planned:</a:t>
            </a: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CC8C4B68-D0A2-5AD6-2225-BAE7A8EB9CB7}"/>
              </a:ext>
            </a:extLst>
          </p:cNvPr>
          <p:cNvSpPr>
            <a:spLocks noChangeArrowheads="1"/>
          </p:cNvSpPr>
          <p:nvPr/>
        </p:nvSpPr>
        <p:spPr bwMode="auto">
          <a:xfrm>
            <a:off x="304800" y="1500069"/>
            <a:ext cx="623221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Use NSL-KDD dataset for network traffic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Perform data preprocessing and feature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Train ML classifiers such as </a:t>
            </a:r>
            <a:r>
              <a:rPr kumimoji="0" lang="en-US" altLang="en-US" sz="1800" b="0" i="0" u="none" strike="noStrike" cap="none" normalizeH="0" baseline="0" dirty="0" err="1">
                <a:ln>
                  <a:noFill/>
                </a:ln>
                <a:solidFill>
                  <a:schemeClr val="bg1">
                    <a:lumMod val="95000"/>
                    <a:lumOff val="5000"/>
                  </a:schemeClr>
                </a:solidFill>
                <a:effectLst/>
                <a:latin typeface="Times New Roman" panose="02020603050405020304" pitchFamily="18" charset="0"/>
                <a:cs typeface="Times New Roman" panose="02020603050405020304" pitchFamily="18" charset="0"/>
              </a:rPr>
              <a:t>XGBoost</a:t>
            </a:r>
            <a:endPar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Evaluate detection performance using accuracy</a:t>
            </a:r>
            <a:r>
              <a:rPr lang="en-US" altLang="en-US" dirty="0">
                <a:solidFill>
                  <a:schemeClr val="bg1">
                    <a:lumMod val="95000"/>
                    <a:lumOff val="5000"/>
                  </a:schemeClr>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and 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Test AI decision logic on different attack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Analyze severity classification and response recommendations</a:t>
            </a:r>
          </a:p>
        </p:txBody>
      </p:sp>
    </p:spTree>
    <p:extLst>
      <p:ext uri="{BB962C8B-B14F-4D97-AF65-F5344CB8AC3E}">
        <p14:creationId xmlns:p14="http://schemas.microsoft.com/office/powerpoint/2010/main" val="115551840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4DE30-7F92-4792-8754-AE2A69BFEB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D707A6-E8D8-A688-8527-1044A0E65DFD}"/>
              </a:ext>
            </a:extLst>
          </p:cNvPr>
          <p:cNvSpPr>
            <a:spLocks noGrp="1"/>
          </p:cNvSpPr>
          <p:nvPr>
            <p:ph type="sldNum" sz="quarter" idx="12"/>
          </p:nvPr>
        </p:nvSpPr>
        <p:spPr/>
        <p:txBody>
          <a:bodyPr/>
          <a:lstStyle/>
          <a:p>
            <a:pPr>
              <a:defRPr/>
            </a:pPr>
            <a:fld id="{FAB6ED7B-5CA3-4472-B01C-99CB7689D1EA}" type="slidenum">
              <a:rPr lang="en-US" smtClean="0"/>
              <a:pPr>
                <a:defRPr/>
              </a:pPr>
              <a:t>11</a:t>
            </a:fld>
            <a:endParaRPr lang="en-US"/>
          </a:p>
        </p:txBody>
      </p:sp>
      <p:sp>
        <p:nvSpPr>
          <p:cNvPr id="5" name="Rectangle 4">
            <a:extLst>
              <a:ext uri="{FF2B5EF4-FFF2-40B4-BE49-F238E27FC236}">
                <a16:creationId xmlns:a16="http://schemas.microsoft.com/office/drawing/2014/main" id="{46FEBF18-572A-031B-16EB-0BBCFAEA77E6}"/>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461D40C0-591C-E398-529B-89F15E04F901}"/>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53D91FFC-71D3-DDD7-EF9D-0A9520FE907D}"/>
              </a:ext>
            </a:extLst>
          </p:cNvPr>
          <p:cNvSpPr/>
          <p:nvPr/>
        </p:nvSpPr>
        <p:spPr>
          <a:xfrm>
            <a:off x="179408" y="915690"/>
            <a:ext cx="8991600" cy="523220"/>
          </a:xfrm>
          <a:prstGeom prst="rect">
            <a:avLst/>
          </a:prstGeom>
        </p:spPr>
        <p:txBody>
          <a:bodyPr wrap="square">
            <a:spAutoFit/>
          </a:bodyPr>
          <a:lstStyle/>
          <a:p>
            <a:pPr lvl="0" fontAlgn="auto">
              <a:spcBef>
                <a:spcPct val="20000"/>
              </a:spcBef>
              <a:spcAft>
                <a:spcPts val="0"/>
              </a:spcAft>
              <a:tabLst>
                <a:tab pos="177800" algn="l"/>
              </a:tabLst>
            </a:pPr>
            <a:r>
              <a:rPr lang="en-US" sz="2800" b="1" dirty="0">
                <a:solidFill>
                  <a:schemeClr val="bg1"/>
                </a:solidFill>
                <a:latin typeface="Times New Roman" panose="02020603050405020304" pitchFamily="18" charset="0"/>
                <a:cs typeface="Times New Roman" panose="02020603050405020304" pitchFamily="18" charset="0"/>
              </a:rPr>
              <a:t>Expected results or outcomes:</a:t>
            </a: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A51F5370-110E-FB84-A210-A555A0AED9F6}"/>
              </a:ext>
            </a:extLst>
          </p:cNvPr>
          <p:cNvSpPr>
            <a:spLocks noChangeArrowheads="1"/>
          </p:cNvSpPr>
          <p:nvPr/>
        </p:nvSpPr>
        <p:spPr bwMode="auto">
          <a:xfrm>
            <a:off x="304800" y="1497222"/>
            <a:ext cx="6934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Accurate detection of network intrusions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Reduction in false positive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Effective prioritization of security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Intelligent and explainable response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Improved support for network administrators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Enhanced overall network security management</a:t>
            </a:r>
          </a:p>
        </p:txBody>
      </p:sp>
    </p:spTree>
    <p:extLst>
      <p:ext uri="{BB962C8B-B14F-4D97-AF65-F5344CB8AC3E}">
        <p14:creationId xmlns:p14="http://schemas.microsoft.com/office/powerpoint/2010/main" val="194497958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A1834-DD03-C286-8B84-EC6206B725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FA22AF-1BD4-D4B7-2E76-7E06DFD8061C}"/>
              </a:ext>
            </a:extLst>
          </p:cNvPr>
          <p:cNvSpPr>
            <a:spLocks noGrp="1"/>
          </p:cNvSpPr>
          <p:nvPr>
            <p:ph type="sldNum" sz="quarter" idx="12"/>
          </p:nvPr>
        </p:nvSpPr>
        <p:spPr/>
        <p:txBody>
          <a:bodyPr/>
          <a:lstStyle/>
          <a:p>
            <a:pPr>
              <a:defRPr/>
            </a:pPr>
            <a:fld id="{FAB6ED7B-5CA3-4472-B01C-99CB7689D1EA}" type="slidenum">
              <a:rPr lang="en-US" smtClean="0"/>
              <a:pPr>
                <a:defRPr/>
              </a:pPr>
              <a:t>12</a:t>
            </a:fld>
            <a:endParaRPr lang="en-US"/>
          </a:p>
        </p:txBody>
      </p:sp>
      <p:sp>
        <p:nvSpPr>
          <p:cNvPr id="5" name="Rectangle 4">
            <a:extLst>
              <a:ext uri="{FF2B5EF4-FFF2-40B4-BE49-F238E27FC236}">
                <a16:creationId xmlns:a16="http://schemas.microsoft.com/office/drawing/2014/main" id="{8F8608B9-78CE-B4E2-9910-7775C20F66B1}"/>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9FAC5B10-E47C-55E9-5E38-BE66BAE7698A}"/>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graphicFrame>
        <p:nvGraphicFramePr>
          <p:cNvPr id="12" name="Table 11">
            <a:extLst>
              <a:ext uri="{FF2B5EF4-FFF2-40B4-BE49-F238E27FC236}">
                <a16:creationId xmlns:a16="http://schemas.microsoft.com/office/drawing/2014/main" id="{9BADC6FA-EA39-BAF9-F9DF-1CE10E1450E2}"/>
              </a:ext>
            </a:extLst>
          </p:cNvPr>
          <p:cNvGraphicFramePr>
            <a:graphicFrameLocks noGrp="1"/>
          </p:cNvGraphicFramePr>
          <p:nvPr>
            <p:extLst>
              <p:ext uri="{D42A27DB-BD31-4B8C-83A1-F6EECF244321}">
                <p14:modId xmlns:p14="http://schemas.microsoft.com/office/powerpoint/2010/main" val="3797089386"/>
              </p:ext>
            </p:extLst>
          </p:nvPr>
        </p:nvGraphicFramePr>
        <p:xfrm>
          <a:off x="304800" y="971550"/>
          <a:ext cx="6934200" cy="3352803"/>
        </p:xfrm>
        <a:graphic>
          <a:graphicData uri="http://schemas.openxmlformats.org/drawingml/2006/table">
            <a:tbl>
              <a:tblPr firstRow="1" firstCol="1" bandRow="1">
                <a:tableStyleId>{5C22544A-7EE6-4342-B048-85BDC9FD1C3A}</a:tableStyleId>
              </a:tblPr>
              <a:tblGrid>
                <a:gridCol w="3467100">
                  <a:extLst>
                    <a:ext uri="{9D8B030D-6E8A-4147-A177-3AD203B41FA5}">
                      <a16:colId xmlns:a16="http://schemas.microsoft.com/office/drawing/2014/main" val="4261008840"/>
                    </a:ext>
                  </a:extLst>
                </a:gridCol>
                <a:gridCol w="3467100">
                  <a:extLst>
                    <a:ext uri="{9D8B030D-6E8A-4147-A177-3AD203B41FA5}">
                      <a16:colId xmlns:a16="http://schemas.microsoft.com/office/drawing/2014/main" val="3206907937"/>
                    </a:ext>
                  </a:extLst>
                </a:gridCol>
              </a:tblGrid>
              <a:tr h="416326">
                <a:tc>
                  <a:txBody>
                    <a:bodyPr/>
                    <a:lstStyle/>
                    <a:p>
                      <a:pPr>
                        <a:buNone/>
                      </a:pPr>
                      <a:r>
                        <a:rPr lang="en-IN" b="1" dirty="0"/>
                        <a:t>Metric</a:t>
                      </a:r>
                      <a:endParaRPr lang="en-IN" dirty="0"/>
                    </a:p>
                  </a:txBody>
                  <a:tcPr anchor="ctr"/>
                </a:tc>
                <a:tc>
                  <a:txBody>
                    <a:bodyPr/>
                    <a:lstStyle/>
                    <a:p>
                      <a:pPr>
                        <a:buNone/>
                      </a:pPr>
                      <a:r>
                        <a:rPr lang="en-IN" b="1"/>
                        <a:t>XGBoost</a:t>
                      </a:r>
                      <a:endParaRPr lang="en-IN"/>
                    </a:p>
                  </a:txBody>
                  <a:tcPr anchor="ctr"/>
                </a:tc>
                <a:extLst>
                  <a:ext uri="{0D108BD9-81ED-4DB2-BD59-A6C34878D82A}">
                    <a16:rowId xmlns:a16="http://schemas.microsoft.com/office/drawing/2014/main" val="1650468148"/>
                  </a:ext>
                </a:extLst>
              </a:tr>
              <a:tr h="416326">
                <a:tc>
                  <a:txBody>
                    <a:bodyPr/>
                    <a:lstStyle/>
                    <a:p>
                      <a:pPr>
                        <a:buNone/>
                      </a:pPr>
                      <a:r>
                        <a:rPr lang="en-IN"/>
                        <a:t>Accuracy</a:t>
                      </a:r>
                    </a:p>
                  </a:txBody>
                  <a:tcPr anchor="ctr"/>
                </a:tc>
                <a:tc>
                  <a:txBody>
                    <a:bodyPr/>
                    <a:lstStyle/>
                    <a:p>
                      <a:pPr>
                        <a:buNone/>
                      </a:pPr>
                      <a:r>
                        <a:rPr lang="en-IN"/>
                        <a:t>96%</a:t>
                      </a:r>
                    </a:p>
                  </a:txBody>
                  <a:tcPr anchor="ctr"/>
                </a:tc>
                <a:extLst>
                  <a:ext uri="{0D108BD9-81ED-4DB2-BD59-A6C34878D82A}">
                    <a16:rowId xmlns:a16="http://schemas.microsoft.com/office/drawing/2014/main" val="2495137887"/>
                  </a:ext>
                </a:extLst>
              </a:tr>
              <a:tr h="416326">
                <a:tc>
                  <a:txBody>
                    <a:bodyPr/>
                    <a:lstStyle/>
                    <a:p>
                      <a:pPr>
                        <a:buNone/>
                      </a:pPr>
                      <a:r>
                        <a:rPr lang="en-IN"/>
                        <a:t>Precision</a:t>
                      </a:r>
                    </a:p>
                  </a:txBody>
                  <a:tcPr anchor="ctr"/>
                </a:tc>
                <a:tc>
                  <a:txBody>
                    <a:bodyPr/>
                    <a:lstStyle/>
                    <a:p>
                      <a:pPr>
                        <a:buNone/>
                      </a:pPr>
                      <a:r>
                        <a:rPr lang="en-IN"/>
                        <a:t>95%</a:t>
                      </a:r>
                    </a:p>
                  </a:txBody>
                  <a:tcPr anchor="ctr"/>
                </a:tc>
                <a:extLst>
                  <a:ext uri="{0D108BD9-81ED-4DB2-BD59-A6C34878D82A}">
                    <a16:rowId xmlns:a16="http://schemas.microsoft.com/office/drawing/2014/main" val="1131272194"/>
                  </a:ext>
                </a:extLst>
              </a:tr>
              <a:tr h="416326">
                <a:tc>
                  <a:txBody>
                    <a:bodyPr/>
                    <a:lstStyle/>
                    <a:p>
                      <a:pPr>
                        <a:buNone/>
                      </a:pPr>
                      <a:r>
                        <a:rPr lang="en-IN"/>
                        <a:t>Recall</a:t>
                      </a:r>
                    </a:p>
                  </a:txBody>
                  <a:tcPr anchor="ctr"/>
                </a:tc>
                <a:tc>
                  <a:txBody>
                    <a:bodyPr/>
                    <a:lstStyle/>
                    <a:p>
                      <a:pPr>
                        <a:buNone/>
                      </a:pPr>
                      <a:r>
                        <a:rPr lang="en-IN"/>
                        <a:t>94%</a:t>
                      </a:r>
                    </a:p>
                  </a:txBody>
                  <a:tcPr anchor="ctr"/>
                </a:tc>
                <a:extLst>
                  <a:ext uri="{0D108BD9-81ED-4DB2-BD59-A6C34878D82A}">
                    <a16:rowId xmlns:a16="http://schemas.microsoft.com/office/drawing/2014/main" val="3574112400"/>
                  </a:ext>
                </a:extLst>
              </a:tr>
              <a:tr h="416326">
                <a:tc>
                  <a:txBody>
                    <a:bodyPr/>
                    <a:lstStyle/>
                    <a:p>
                      <a:pPr>
                        <a:buNone/>
                      </a:pPr>
                      <a:r>
                        <a:rPr lang="en-IN"/>
                        <a:t>F1-Score</a:t>
                      </a:r>
                    </a:p>
                  </a:txBody>
                  <a:tcPr anchor="ctr"/>
                </a:tc>
                <a:tc>
                  <a:txBody>
                    <a:bodyPr/>
                    <a:lstStyle/>
                    <a:p>
                      <a:pPr>
                        <a:buNone/>
                      </a:pPr>
                      <a:r>
                        <a:rPr lang="en-IN"/>
                        <a:t>94.5%</a:t>
                      </a:r>
                    </a:p>
                  </a:txBody>
                  <a:tcPr anchor="ctr"/>
                </a:tc>
                <a:extLst>
                  <a:ext uri="{0D108BD9-81ED-4DB2-BD59-A6C34878D82A}">
                    <a16:rowId xmlns:a16="http://schemas.microsoft.com/office/drawing/2014/main" val="1399390413"/>
                  </a:ext>
                </a:extLst>
              </a:tr>
              <a:tr h="854847">
                <a:tc>
                  <a:txBody>
                    <a:bodyPr/>
                    <a:lstStyle/>
                    <a:p>
                      <a:pPr>
                        <a:buNone/>
                      </a:pPr>
                      <a:r>
                        <a:rPr lang="en-IN"/>
                        <a:t>False Positive Rate</a:t>
                      </a:r>
                    </a:p>
                  </a:txBody>
                  <a:tcPr anchor="ctr"/>
                </a:tc>
                <a:tc>
                  <a:txBody>
                    <a:bodyPr/>
                    <a:lstStyle/>
                    <a:p>
                      <a:pPr>
                        <a:buNone/>
                      </a:pPr>
                      <a:r>
                        <a:rPr lang="en-IN"/>
                        <a:t>Low</a:t>
                      </a:r>
                    </a:p>
                  </a:txBody>
                  <a:tcPr anchor="ctr"/>
                </a:tc>
                <a:extLst>
                  <a:ext uri="{0D108BD9-81ED-4DB2-BD59-A6C34878D82A}">
                    <a16:rowId xmlns:a16="http://schemas.microsoft.com/office/drawing/2014/main" val="1974756249"/>
                  </a:ext>
                </a:extLst>
              </a:tr>
              <a:tr h="416326">
                <a:tc>
                  <a:txBody>
                    <a:bodyPr/>
                    <a:lstStyle/>
                    <a:p>
                      <a:pPr>
                        <a:buNone/>
                      </a:pPr>
                      <a:r>
                        <a:rPr lang="en-IN"/>
                        <a:t>Detection Speed</a:t>
                      </a:r>
                    </a:p>
                  </a:txBody>
                  <a:tcPr anchor="ctr"/>
                </a:tc>
                <a:tc>
                  <a:txBody>
                    <a:bodyPr/>
                    <a:lstStyle/>
                    <a:p>
                      <a:pPr>
                        <a:buNone/>
                      </a:pPr>
                      <a:r>
                        <a:rPr lang="en-IN" dirty="0"/>
                        <a:t>Fast</a:t>
                      </a:r>
                    </a:p>
                  </a:txBody>
                  <a:tcPr anchor="ctr"/>
                </a:tc>
                <a:extLst>
                  <a:ext uri="{0D108BD9-81ED-4DB2-BD59-A6C34878D82A}">
                    <a16:rowId xmlns:a16="http://schemas.microsoft.com/office/drawing/2014/main" val="586416555"/>
                  </a:ext>
                </a:extLst>
              </a:tr>
            </a:tbl>
          </a:graphicData>
        </a:graphic>
      </p:graphicFrame>
    </p:spTree>
    <p:extLst>
      <p:ext uri="{BB962C8B-B14F-4D97-AF65-F5344CB8AC3E}">
        <p14:creationId xmlns:p14="http://schemas.microsoft.com/office/powerpoint/2010/main" val="4559261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3901-0F22-6C3B-CC2E-EAFE1D2756E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398EC0-7228-8FAC-FE31-C47005C1FDAE}"/>
              </a:ext>
            </a:extLst>
          </p:cNvPr>
          <p:cNvSpPr>
            <a:spLocks noGrp="1"/>
          </p:cNvSpPr>
          <p:nvPr>
            <p:ph type="sldNum" sz="quarter" idx="12"/>
          </p:nvPr>
        </p:nvSpPr>
        <p:spPr/>
        <p:txBody>
          <a:bodyPr/>
          <a:lstStyle/>
          <a:p>
            <a:pPr>
              <a:defRPr/>
            </a:pPr>
            <a:fld id="{FAB6ED7B-5CA3-4472-B01C-99CB7689D1EA}" type="slidenum">
              <a:rPr lang="en-US" smtClean="0"/>
              <a:pPr>
                <a:defRPr/>
              </a:pPr>
              <a:t>13</a:t>
            </a:fld>
            <a:endParaRPr lang="en-US"/>
          </a:p>
        </p:txBody>
      </p:sp>
      <p:sp>
        <p:nvSpPr>
          <p:cNvPr id="5" name="Rectangle 4">
            <a:extLst>
              <a:ext uri="{FF2B5EF4-FFF2-40B4-BE49-F238E27FC236}">
                <a16:creationId xmlns:a16="http://schemas.microsoft.com/office/drawing/2014/main" id="{EC6CE9B3-0BCE-250E-68AA-8958B92EC541}"/>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58438385-0E6E-A966-317C-EC7F94EAEAF4}"/>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F56D593E-1B85-28CF-4B19-0DC93D7C05A6}"/>
              </a:ext>
            </a:extLst>
          </p:cNvPr>
          <p:cNvSpPr/>
          <p:nvPr/>
        </p:nvSpPr>
        <p:spPr>
          <a:xfrm>
            <a:off x="179408" y="915690"/>
            <a:ext cx="8991600" cy="400110"/>
          </a:xfrm>
          <a:prstGeom prst="rect">
            <a:avLst/>
          </a:prstGeom>
        </p:spPr>
        <p:txBody>
          <a:bodyPr wrap="square">
            <a:spAutoFit/>
          </a:bodyPr>
          <a:lstStyle/>
          <a:p>
            <a:pPr lvl="0" fontAlgn="auto">
              <a:spcBef>
                <a:spcPct val="20000"/>
              </a:spcBef>
              <a:spcAft>
                <a:spcPts val="0"/>
              </a:spcAft>
              <a:tabLst>
                <a:tab pos="177800" algn="l"/>
              </a:tabLst>
            </a:pPr>
            <a:r>
              <a:rPr lang="en-US" sz="2000" b="1" dirty="0">
                <a:solidFill>
                  <a:schemeClr val="bg1"/>
                </a:solidFill>
                <a:latin typeface="Times New Roman" panose="02020603050405020304" pitchFamily="18" charset="0"/>
                <a:cs typeface="Times New Roman" panose="02020603050405020304" pitchFamily="18" charset="0"/>
              </a:rPr>
              <a:t>Severity Classification Results</a:t>
            </a:r>
          </a:p>
        </p:txBody>
      </p:sp>
      <p:graphicFrame>
        <p:nvGraphicFramePr>
          <p:cNvPr id="8" name="Table 7">
            <a:extLst>
              <a:ext uri="{FF2B5EF4-FFF2-40B4-BE49-F238E27FC236}">
                <a16:creationId xmlns:a16="http://schemas.microsoft.com/office/drawing/2014/main" id="{41C9120A-EF9E-9D8D-3092-60D2A0F82AFF}"/>
              </a:ext>
            </a:extLst>
          </p:cNvPr>
          <p:cNvGraphicFramePr>
            <a:graphicFrameLocks noGrp="1"/>
          </p:cNvGraphicFramePr>
          <p:nvPr>
            <p:extLst>
              <p:ext uri="{D42A27DB-BD31-4B8C-83A1-F6EECF244321}">
                <p14:modId xmlns:p14="http://schemas.microsoft.com/office/powerpoint/2010/main" val="3409130689"/>
              </p:ext>
            </p:extLst>
          </p:nvPr>
        </p:nvGraphicFramePr>
        <p:xfrm>
          <a:off x="609600" y="1545691"/>
          <a:ext cx="8305800" cy="3083460"/>
        </p:xfrm>
        <a:graphic>
          <a:graphicData uri="http://schemas.openxmlformats.org/drawingml/2006/table">
            <a:tbl>
              <a:tblPr firstRow="1" firstCol="1" bandRow="1">
                <a:tableStyleId>{5C22544A-7EE6-4342-B048-85BDC9FD1C3A}</a:tableStyleId>
              </a:tblPr>
              <a:tblGrid>
                <a:gridCol w="2076450">
                  <a:extLst>
                    <a:ext uri="{9D8B030D-6E8A-4147-A177-3AD203B41FA5}">
                      <a16:colId xmlns:a16="http://schemas.microsoft.com/office/drawing/2014/main" val="199145135"/>
                    </a:ext>
                  </a:extLst>
                </a:gridCol>
                <a:gridCol w="2076450">
                  <a:extLst>
                    <a:ext uri="{9D8B030D-6E8A-4147-A177-3AD203B41FA5}">
                      <a16:colId xmlns:a16="http://schemas.microsoft.com/office/drawing/2014/main" val="2381769313"/>
                    </a:ext>
                  </a:extLst>
                </a:gridCol>
                <a:gridCol w="2076450">
                  <a:extLst>
                    <a:ext uri="{9D8B030D-6E8A-4147-A177-3AD203B41FA5}">
                      <a16:colId xmlns:a16="http://schemas.microsoft.com/office/drawing/2014/main" val="2355300889"/>
                    </a:ext>
                  </a:extLst>
                </a:gridCol>
                <a:gridCol w="2076450">
                  <a:extLst>
                    <a:ext uri="{9D8B030D-6E8A-4147-A177-3AD203B41FA5}">
                      <a16:colId xmlns:a16="http://schemas.microsoft.com/office/drawing/2014/main" val="2390334162"/>
                    </a:ext>
                  </a:extLst>
                </a:gridCol>
              </a:tblGrid>
              <a:tr h="613381">
                <a:tc>
                  <a:txBody>
                    <a:bodyPr/>
                    <a:lstStyle/>
                    <a:p>
                      <a:pPr>
                        <a:lnSpc>
                          <a:spcPct val="107000"/>
                        </a:lnSpc>
                        <a:spcAft>
                          <a:spcPts val="800"/>
                        </a:spcAft>
                        <a:buNone/>
                      </a:pPr>
                      <a:r>
                        <a:rPr lang="en-IN" sz="1100" kern="100">
                          <a:effectLst/>
                        </a:rPr>
                        <a:t>Attack 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Detected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Severity Level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Recommended Action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3739736"/>
                  </a:ext>
                </a:extLst>
              </a:tr>
              <a:tr h="629936">
                <a:tc>
                  <a:txBody>
                    <a:bodyPr/>
                    <a:lstStyle/>
                    <a:p>
                      <a:pPr>
                        <a:lnSpc>
                          <a:spcPct val="107000"/>
                        </a:lnSpc>
                        <a:spcAft>
                          <a:spcPts val="800"/>
                        </a:spcAft>
                        <a:buNone/>
                      </a:pPr>
                      <a:r>
                        <a:rPr lang="en-IN" sz="1100" kern="100">
                          <a:effectLst/>
                        </a:rPr>
                        <a:t>DoS Attack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Yes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High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Block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0448767"/>
                  </a:ext>
                </a:extLst>
              </a:tr>
              <a:tr h="613381">
                <a:tc>
                  <a:txBody>
                    <a:bodyPr/>
                    <a:lstStyle/>
                    <a:p>
                      <a:pPr>
                        <a:lnSpc>
                          <a:spcPct val="107000"/>
                        </a:lnSpc>
                        <a:spcAft>
                          <a:spcPts val="800"/>
                        </a:spcAft>
                        <a:buNone/>
                      </a:pPr>
                      <a:r>
                        <a:rPr lang="en-IN" sz="1100" kern="100">
                          <a:effectLst/>
                        </a:rPr>
                        <a:t>Probe Attack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Yes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Medium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Alert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2099879"/>
                  </a:ext>
                </a:extLst>
              </a:tr>
              <a:tr h="613381">
                <a:tc>
                  <a:txBody>
                    <a:bodyPr/>
                    <a:lstStyle/>
                    <a:p>
                      <a:pPr>
                        <a:lnSpc>
                          <a:spcPct val="107000"/>
                        </a:lnSpc>
                        <a:spcAft>
                          <a:spcPts val="800"/>
                        </a:spcAft>
                        <a:buNone/>
                      </a:pPr>
                      <a:r>
                        <a:rPr lang="en-IN" sz="1100" kern="100">
                          <a:effectLst/>
                        </a:rPr>
                        <a:t>Unauthorized Access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Yes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High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Block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0102356"/>
                  </a:ext>
                </a:extLst>
              </a:tr>
              <a:tr h="613381">
                <a:tc>
                  <a:txBody>
                    <a:bodyPr/>
                    <a:lstStyle/>
                    <a:p>
                      <a:pPr>
                        <a:lnSpc>
                          <a:spcPct val="107000"/>
                        </a:lnSpc>
                        <a:spcAft>
                          <a:spcPts val="800"/>
                        </a:spcAft>
                        <a:buNone/>
                      </a:pPr>
                      <a:r>
                        <a:rPr lang="en-IN" sz="1100" kern="100">
                          <a:effectLst/>
                        </a:rPr>
                        <a:t>Normal Traffic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Yes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dirty="0">
                          <a:effectLst/>
                        </a:rPr>
                        <a:t>Low</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dirty="0">
                          <a:effectLst/>
                        </a:rPr>
                        <a:t>Monitor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44982268"/>
                  </a:ext>
                </a:extLst>
              </a:tr>
            </a:tbl>
          </a:graphicData>
        </a:graphic>
      </p:graphicFrame>
    </p:spTree>
    <p:extLst>
      <p:ext uri="{BB962C8B-B14F-4D97-AF65-F5344CB8AC3E}">
        <p14:creationId xmlns:p14="http://schemas.microsoft.com/office/powerpoint/2010/main" val="148402398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2968C-9306-5CA1-5CC5-7E5460DCA5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F47B43-D28F-C822-A6E3-B7F1620AF262}"/>
              </a:ext>
            </a:extLst>
          </p:cNvPr>
          <p:cNvSpPr>
            <a:spLocks noGrp="1"/>
          </p:cNvSpPr>
          <p:nvPr>
            <p:ph type="sldNum" sz="quarter" idx="12"/>
          </p:nvPr>
        </p:nvSpPr>
        <p:spPr/>
        <p:txBody>
          <a:bodyPr/>
          <a:lstStyle/>
          <a:p>
            <a:pPr>
              <a:defRPr/>
            </a:pPr>
            <a:fld id="{FAB6ED7B-5CA3-4472-B01C-99CB7689D1EA}" type="slidenum">
              <a:rPr lang="en-US" smtClean="0"/>
              <a:pPr>
                <a:defRPr/>
              </a:pPr>
              <a:t>14</a:t>
            </a:fld>
            <a:endParaRPr lang="en-US"/>
          </a:p>
        </p:txBody>
      </p:sp>
      <p:sp>
        <p:nvSpPr>
          <p:cNvPr id="5" name="Rectangle 4">
            <a:extLst>
              <a:ext uri="{FF2B5EF4-FFF2-40B4-BE49-F238E27FC236}">
                <a16:creationId xmlns:a16="http://schemas.microsoft.com/office/drawing/2014/main" id="{7EC6FFA2-E935-7BFF-9C20-465BE671456C}"/>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7AC38951-E978-8BCE-8493-476FE2DA16FB}"/>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B80A30A2-9B0B-C330-547E-E82E55DA6C42}"/>
              </a:ext>
            </a:extLst>
          </p:cNvPr>
          <p:cNvSpPr/>
          <p:nvPr/>
        </p:nvSpPr>
        <p:spPr>
          <a:xfrm>
            <a:off x="179408" y="915690"/>
            <a:ext cx="8991600" cy="400110"/>
          </a:xfrm>
          <a:prstGeom prst="rect">
            <a:avLst/>
          </a:prstGeom>
        </p:spPr>
        <p:txBody>
          <a:bodyPr wrap="square">
            <a:spAutoFit/>
          </a:bodyPr>
          <a:lstStyle/>
          <a:p>
            <a:pPr lvl="0" fontAlgn="auto">
              <a:spcBef>
                <a:spcPct val="20000"/>
              </a:spcBef>
              <a:spcAft>
                <a:spcPts val="0"/>
              </a:spcAft>
              <a:tabLst>
                <a:tab pos="177800" algn="l"/>
              </a:tabLst>
            </a:pPr>
            <a:r>
              <a:rPr lang="en-US" sz="2000" b="1" dirty="0">
                <a:solidFill>
                  <a:schemeClr val="bg1"/>
                </a:solidFill>
                <a:latin typeface="Times New Roman" panose="02020603050405020304" pitchFamily="18" charset="0"/>
                <a:cs typeface="Times New Roman" panose="02020603050405020304" pitchFamily="18" charset="0"/>
              </a:rPr>
              <a:t>Overall System Performance</a:t>
            </a:r>
          </a:p>
        </p:txBody>
      </p:sp>
      <p:graphicFrame>
        <p:nvGraphicFramePr>
          <p:cNvPr id="2" name="Table 1">
            <a:extLst>
              <a:ext uri="{FF2B5EF4-FFF2-40B4-BE49-F238E27FC236}">
                <a16:creationId xmlns:a16="http://schemas.microsoft.com/office/drawing/2014/main" id="{BF4E68DF-91A5-1770-D17D-BC7AF48E94D2}"/>
              </a:ext>
            </a:extLst>
          </p:cNvPr>
          <p:cNvGraphicFramePr>
            <a:graphicFrameLocks noGrp="1"/>
          </p:cNvGraphicFramePr>
          <p:nvPr>
            <p:extLst>
              <p:ext uri="{D42A27DB-BD31-4B8C-83A1-F6EECF244321}">
                <p14:modId xmlns:p14="http://schemas.microsoft.com/office/powerpoint/2010/main" val="3174706532"/>
              </p:ext>
            </p:extLst>
          </p:nvPr>
        </p:nvGraphicFramePr>
        <p:xfrm>
          <a:off x="685800" y="1545690"/>
          <a:ext cx="4943794" cy="2873453"/>
        </p:xfrm>
        <a:graphic>
          <a:graphicData uri="http://schemas.openxmlformats.org/drawingml/2006/table">
            <a:tbl>
              <a:tblPr firstRow="1" firstCol="1" bandRow="1">
                <a:tableStyleId>{5C22544A-7EE6-4342-B048-85BDC9FD1C3A}</a:tableStyleId>
              </a:tblPr>
              <a:tblGrid>
                <a:gridCol w="2471897">
                  <a:extLst>
                    <a:ext uri="{9D8B030D-6E8A-4147-A177-3AD203B41FA5}">
                      <a16:colId xmlns:a16="http://schemas.microsoft.com/office/drawing/2014/main" val="794888708"/>
                    </a:ext>
                  </a:extLst>
                </a:gridCol>
                <a:gridCol w="2471897">
                  <a:extLst>
                    <a:ext uri="{9D8B030D-6E8A-4147-A177-3AD203B41FA5}">
                      <a16:colId xmlns:a16="http://schemas.microsoft.com/office/drawing/2014/main" val="71643808"/>
                    </a:ext>
                  </a:extLst>
                </a:gridCol>
              </a:tblGrid>
              <a:tr h="406214">
                <a:tc>
                  <a:txBody>
                    <a:bodyPr/>
                    <a:lstStyle/>
                    <a:p>
                      <a:pPr>
                        <a:lnSpc>
                          <a:spcPct val="107000"/>
                        </a:lnSpc>
                        <a:spcAft>
                          <a:spcPts val="800"/>
                        </a:spcAft>
                        <a:buNone/>
                      </a:pPr>
                      <a:r>
                        <a:rPr lang="en-IN" sz="1400" kern="100">
                          <a:effectLst/>
                        </a:rPr>
                        <a:t>Parameter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Result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4593221"/>
                  </a:ext>
                </a:extLst>
              </a:tr>
              <a:tr h="406214">
                <a:tc>
                  <a:txBody>
                    <a:bodyPr/>
                    <a:lstStyle/>
                    <a:p>
                      <a:pPr>
                        <a:lnSpc>
                          <a:spcPct val="107000"/>
                        </a:lnSpc>
                        <a:spcAft>
                          <a:spcPts val="800"/>
                        </a:spcAft>
                        <a:buNone/>
                      </a:pPr>
                      <a:r>
                        <a:rPr lang="en-IN" sz="1400" kern="100">
                          <a:effectLst/>
                        </a:rPr>
                        <a:t>Intrusion Detection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Successful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99211596"/>
                  </a:ext>
                </a:extLst>
              </a:tr>
              <a:tr h="406214">
                <a:tc>
                  <a:txBody>
                    <a:bodyPr/>
                    <a:lstStyle/>
                    <a:p>
                      <a:pPr>
                        <a:lnSpc>
                          <a:spcPct val="107000"/>
                        </a:lnSpc>
                        <a:spcAft>
                          <a:spcPts val="800"/>
                        </a:spcAft>
                        <a:buNone/>
                      </a:pPr>
                      <a:r>
                        <a:rPr lang="en-IN" sz="1400" kern="100">
                          <a:effectLst/>
                        </a:rPr>
                        <a:t>False Alerts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dirty="0">
                          <a:effectLst/>
                        </a:rPr>
                        <a:t>Reduced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1408805"/>
                  </a:ext>
                </a:extLst>
              </a:tr>
              <a:tr h="406214">
                <a:tc>
                  <a:txBody>
                    <a:bodyPr/>
                    <a:lstStyle/>
                    <a:p>
                      <a:pPr>
                        <a:lnSpc>
                          <a:spcPct val="107000"/>
                        </a:lnSpc>
                        <a:spcAft>
                          <a:spcPts val="800"/>
                        </a:spcAft>
                        <a:buNone/>
                      </a:pPr>
                      <a:r>
                        <a:rPr lang="en-IN" sz="1400" kern="100">
                          <a:effectLst/>
                        </a:rPr>
                        <a:t>Threat Prioritization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Implemented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4479218"/>
                  </a:ext>
                </a:extLst>
              </a:tr>
              <a:tr h="447666">
                <a:tc>
                  <a:txBody>
                    <a:bodyPr/>
                    <a:lstStyle/>
                    <a:p>
                      <a:pPr>
                        <a:lnSpc>
                          <a:spcPct val="107000"/>
                        </a:lnSpc>
                        <a:spcAft>
                          <a:spcPts val="800"/>
                        </a:spcAft>
                        <a:buNone/>
                      </a:pPr>
                      <a:r>
                        <a:rPr lang="en-IN" sz="1400" kern="100">
                          <a:effectLst/>
                        </a:rPr>
                        <a:t>Response Recommendation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Automated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327282"/>
                  </a:ext>
                </a:extLst>
              </a:tr>
              <a:tr h="406214">
                <a:tc>
                  <a:txBody>
                    <a:bodyPr/>
                    <a:lstStyle/>
                    <a:p>
                      <a:pPr>
                        <a:lnSpc>
                          <a:spcPct val="107000"/>
                        </a:lnSpc>
                        <a:spcAft>
                          <a:spcPts val="800"/>
                        </a:spcAft>
                        <a:buNone/>
                      </a:pPr>
                      <a:r>
                        <a:rPr lang="en-IN" sz="1400" kern="100">
                          <a:effectLst/>
                        </a:rPr>
                        <a:t>Decision Support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Improved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8520119"/>
                  </a:ext>
                </a:extLst>
              </a:tr>
              <a:tr h="394717">
                <a:tc>
                  <a:txBody>
                    <a:bodyPr/>
                    <a:lstStyle/>
                    <a:p>
                      <a:pPr>
                        <a:lnSpc>
                          <a:spcPct val="107000"/>
                        </a:lnSpc>
                        <a:spcAft>
                          <a:spcPts val="800"/>
                        </a:spcAft>
                        <a:buNone/>
                      </a:pPr>
                      <a:r>
                        <a:rPr lang="en-IN" sz="1400" kern="100">
                          <a:effectLst/>
                        </a:rPr>
                        <a:t>System Efficiency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dirty="0">
                          <a:effectLst/>
                        </a:rPr>
                        <a:t>High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7477771"/>
                  </a:ext>
                </a:extLst>
              </a:tr>
            </a:tbl>
          </a:graphicData>
        </a:graphic>
      </p:graphicFrame>
    </p:spTree>
    <p:extLst>
      <p:ext uri="{BB962C8B-B14F-4D97-AF65-F5344CB8AC3E}">
        <p14:creationId xmlns:p14="http://schemas.microsoft.com/office/powerpoint/2010/main" val="421821658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259D-B11D-3DD1-2471-8781D225EB7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76BEF4-46DE-8BDD-402E-61425071A92E}"/>
              </a:ext>
            </a:extLst>
          </p:cNvPr>
          <p:cNvSpPr>
            <a:spLocks noGrp="1"/>
          </p:cNvSpPr>
          <p:nvPr>
            <p:ph type="sldNum" sz="quarter" idx="12"/>
          </p:nvPr>
        </p:nvSpPr>
        <p:spPr/>
        <p:txBody>
          <a:bodyPr/>
          <a:lstStyle/>
          <a:p>
            <a:pPr>
              <a:defRPr/>
            </a:pPr>
            <a:fld id="{FAB6ED7B-5CA3-4472-B01C-99CB7689D1EA}" type="slidenum">
              <a:rPr lang="en-US" smtClean="0"/>
              <a:pPr>
                <a:defRPr/>
              </a:pPr>
              <a:t>15</a:t>
            </a:fld>
            <a:endParaRPr lang="en-US"/>
          </a:p>
        </p:txBody>
      </p:sp>
      <p:sp>
        <p:nvSpPr>
          <p:cNvPr id="5" name="Rectangle 4">
            <a:extLst>
              <a:ext uri="{FF2B5EF4-FFF2-40B4-BE49-F238E27FC236}">
                <a16:creationId xmlns:a16="http://schemas.microsoft.com/office/drawing/2014/main" id="{2117E488-BD59-3A64-5582-5E387188A409}"/>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5C108C6F-1ADF-6B2D-EB1C-C5A33227E8DA}"/>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2ACAA0F8-99BD-9710-796C-9ABD53DD0EA5}"/>
              </a:ext>
            </a:extLst>
          </p:cNvPr>
          <p:cNvSpPr/>
          <p:nvPr/>
        </p:nvSpPr>
        <p:spPr>
          <a:xfrm>
            <a:off x="685800" y="742950"/>
            <a:ext cx="8991600" cy="1114151"/>
          </a:xfrm>
          <a:prstGeom prst="rect">
            <a:avLst/>
          </a:prstGeom>
        </p:spPr>
        <p:txBody>
          <a:bodyPr wrap="square">
            <a:spAutoFit/>
          </a:bodyPr>
          <a:lstStyle/>
          <a:p>
            <a:pPr lvl="0" fontAlgn="auto">
              <a:spcBef>
                <a:spcPct val="20000"/>
              </a:spcBef>
              <a:spcAft>
                <a:spcPts val="0"/>
              </a:spcAft>
              <a:tabLst>
                <a:tab pos="177800" algn="l"/>
              </a:tabLst>
            </a:pPr>
            <a:r>
              <a:rPr lang="en-US" sz="2800" b="1" dirty="0">
                <a:solidFill>
                  <a:schemeClr val="bg1"/>
                </a:solidFill>
                <a:latin typeface="Times New Roman" panose="02020603050405020304" pitchFamily="18" charset="0"/>
                <a:cs typeface="Times New Roman" panose="02020603050405020304" pitchFamily="18" charset="0"/>
              </a:rPr>
              <a:t>Future work:</a:t>
            </a: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2286483-03EB-4784-011B-E3FDD9ADCA86}"/>
              </a:ext>
            </a:extLst>
          </p:cNvPr>
          <p:cNvSpPr txBox="1"/>
          <p:nvPr/>
        </p:nvSpPr>
        <p:spPr>
          <a:xfrm>
            <a:off x="762000" y="1504950"/>
            <a:ext cx="5867400" cy="1631216"/>
          </a:xfrm>
          <a:prstGeom prst="rect">
            <a:avLst/>
          </a:prstGeom>
          <a:noFill/>
        </p:spPr>
        <p:txBody>
          <a:bodyPr wrap="square">
            <a:spAutoFit/>
          </a:bodyPr>
          <a:lstStyle/>
          <a:p>
            <a:pPr>
              <a:buFont typeface="Arial" panose="020B0604020202020204" pitchFamily="34" charset="0"/>
              <a:buChar char="•"/>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Integration with real-time network traffic monitoring</a:t>
            </a:r>
          </a:p>
          <a:p>
            <a:pPr>
              <a:buFont typeface="Arial" panose="020B0604020202020204" pitchFamily="34" charset="0"/>
              <a:buChar char="•"/>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Support for advanced and zero-day attacks</a:t>
            </a:r>
          </a:p>
          <a:p>
            <a:pPr>
              <a:buFont typeface="Arial" panose="020B0604020202020204" pitchFamily="34" charset="0"/>
              <a:buChar char="•"/>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Use of deep learning models for improved detection</a:t>
            </a:r>
          </a:p>
          <a:p>
            <a:pPr>
              <a:buFont typeface="Arial" panose="020B0604020202020204" pitchFamily="34" charset="0"/>
              <a:buChar char="•"/>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Automated execution of response actions</a:t>
            </a:r>
          </a:p>
          <a:p>
            <a:pPr>
              <a:buFont typeface="Arial" panose="020B0604020202020204" pitchFamily="34" charset="0"/>
              <a:buChar char="•"/>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Cloud-based deployment for large-scale networks</a:t>
            </a:r>
          </a:p>
        </p:txBody>
      </p:sp>
    </p:spTree>
    <p:extLst>
      <p:ext uri="{BB962C8B-B14F-4D97-AF65-F5344CB8AC3E}">
        <p14:creationId xmlns:p14="http://schemas.microsoft.com/office/powerpoint/2010/main" val="199771704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3301-484B-DF2E-1FB3-4F0813F4B27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BFE3D4-6D2E-E2F3-B5C4-1E504C704CC5}"/>
              </a:ext>
            </a:extLst>
          </p:cNvPr>
          <p:cNvSpPr>
            <a:spLocks noGrp="1"/>
          </p:cNvSpPr>
          <p:nvPr>
            <p:ph type="sldNum" sz="quarter" idx="12"/>
          </p:nvPr>
        </p:nvSpPr>
        <p:spPr/>
        <p:txBody>
          <a:bodyPr/>
          <a:lstStyle/>
          <a:p>
            <a:pPr>
              <a:defRPr/>
            </a:pPr>
            <a:fld id="{FAB6ED7B-5CA3-4472-B01C-99CB7689D1EA}" type="slidenum">
              <a:rPr lang="en-US" smtClean="0"/>
              <a:pPr>
                <a:defRPr/>
              </a:pPr>
              <a:t>16</a:t>
            </a:fld>
            <a:endParaRPr lang="en-US"/>
          </a:p>
        </p:txBody>
      </p:sp>
      <p:sp>
        <p:nvSpPr>
          <p:cNvPr id="5" name="Rectangle 4">
            <a:extLst>
              <a:ext uri="{FF2B5EF4-FFF2-40B4-BE49-F238E27FC236}">
                <a16:creationId xmlns:a16="http://schemas.microsoft.com/office/drawing/2014/main" id="{4FE10D3E-0FF0-8CE3-DCD6-92B7D327F2D2}"/>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29AC838F-B45E-E5E1-7DCA-D4070A80FE8E}"/>
              </a:ext>
            </a:extLst>
          </p:cNvPr>
          <p:cNvPicPr>
            <a:picLocks noChangeAspect="1"/>
          </p:cNvPicPr>
          <p:nvPr/>
        </p:nvPicPr>
        <p:blipFill>
          <a:blip r:embed="rId3"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C530269D-067C-6AFD-B518-0B94A05C801C}"/>
              </a:ext>
            </a:extLst>
          </p:cNvPr>
          <p:cNvSpPr/>
          <p:nvPr/>
        </p:nvSpPr>
        <p:spPr>
          <a:xfrm>
            <a:off x="-2" y="678426"/>
            <a:ext cx="8991600" cy="1077218"/>
          </a:xfrm>
          <a:prstGeom prst="rect">
            <a:avLst/>
          </a:prstGeom>
        </p:spPr>
        <p:txBody>
          <a:bodyPr wrap="square">
            <a:spAutoFit/>
          </a:bodyPr>
          <a:lstStyle/>
          <a:p>
            <a:pPr lvl="0" fontAlgn="auto">
              <a:spcBef>
                <a:spcPct val="20000"/>
              </a:spcBef>
              <a:spcAft>
                <a:spcPts val="0"/>
              </a:spcAft>
              <a:tabLst>
                <a:tab pos="177800" algn="l"/>
              </a:tabLst>
            </a:pPr>
            <a:r>
              <a:rPr lang="en-IN" sz="1600" b="1" dirty="0">
                <a:solidFill>
                  <a:schemeClr val="bg1"/>
                </a:solidFill>
                <a:latin typeface="Times New Roman" panose="02020603050405020304" pitchFamily="18" charset="0"/>
                <a:cs typeface="Times New Roman" panose="02020603050405020304" pitchFamily="18" charset="0"/>
              </a:rPr>
              <a:t>Literature Survey:</a:t>
            </a:r>
          </a:p>
          <a:p>
            <a:pPr lvl="0" fontAlgn="auto">
              <a:spcBef>
                <a:spcPct val="20000"/>
              </a:spcBef>
              <a:spcAft>
                <a:spcPts val="0"/>
              </a:spcAft>
              <a:tabLst>
                <a:tab pos="177800" algn="l"/>
              </a:tabLst>
            </a:pPr>
            <a:endParaRPr lang="en-IN"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IN" sz="24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5DAA77A-1A3D-42C7-A940-5B47E277B1AB}"/>
              </a:ext>
            </a:extLst>
          </p:cNvPr>
          <p:cNvGraphicFramePr>
            <a:graphicFrameLocks noGrp="1"/>
          </p:cNvGraphicFramePr>
          <p:nvPr>
            <p:extLst>
              <p:ext uri="{D42A27DB-BD31-4B8C-83A1-F6EECF244321}">
                <p14:modId xmlns:p14="http://schemas.microsoft.com/office/powerpoint/2010/main" val="2019171640"/>
              </p:ext>
            </p:extLst>
          </p:nvPr>
        </p:nvGraphicFramePr>
        <p:xfrm>
          <a:off x="304800" y="1028698"/>
          <a:ext cx="8534400" cy="3787379"/>
        </p:xfrm>
        <a:graphic>
          <a:graphicData uri="http://schemas.openxmlformats.org/drawingml/2006/table">
            <a:tbl>
              <a:tblPr firstRow="1" firstCol="1" bandRow="1">
                <a:tableStyleId>{5C22544A-7EE6-4342-B048-85BDC9FD1C3A}</a:tableStyleId>
              </a:tblPr>
              <a:tblGrid>
                <a:gridCol w="699995">
                  <a:extLst>
                    <a:ext uri="{9D8B030D-6E8A-4147-A177-3AD203B41FA5}">
                      <a16:colId xmlns:a16="http://schemas.microsoft.com/office/drawing/2014/main" val="2990442786"/>
                    </a:ext>
                  </a:extLst>
                </a:gridCol>
                <a:gridCol w="1318905">
                  <a:extLst>
                    <a:ext uri="{9D8B030D-6E8A-4147-A177-3AD203B41FA5}">
                      <a16:colId xmlns:a16="http://schemas.microsoft.com/office/drawing/2014/main" val="1798172481"/>
                    </a:ext>
                  </a:extLst>
                </a:gridCol>
                <a:gridCol w="1318905">
                  <a:extLst>
                    <a:ext uri="{9D8B030D-6E8A-4147-A177-3AD203B41FA5}">
                      <a16:colId xmlns:a16="http://schemas.microsoft.com/office/drawing/2014/main" val="928123413"/>
                    </a:ext>
                  </a:extLst>
                </a:gridCol>
                <a:gridCol w="1318905">
                  <a:extLst>
                    <a:ext uri="{9D8B030D-6E8A-4147-A177-3AD203B41FA5}">
                      <a16:colId xmlns:a16="http://schemas.microsoft.com/office/drawing/2014/main" val="315340359"/>
                    </a:ext>
                  </a:extLst>
                </a:gridCol>
                <a:gridCol w="1318905">
                  <a:extLst>
                    <a:ext uri="{9D8B030D-6E8A-4147-A177-3AD203B41FA5}">
                      <a16:colId xmlns:a16="http://schemas.microsoft.com/office/drawing/2014/main" val="591490545"/>
                    </a:ext>
                  </a:extLst>
                </a:gridCol>
                <a:gridCol w="1318905">
                  <a:extLst>
                    <a:ext uri="{9D8B030D-6E8A-4147-A177-3AD203B41FA5}">
                      <a16:colId xmlns:a16="http://schemas.microsoft.com/office/drawing/2014/main" val="4003473382"/>
                    </a:ext>
                  </a:extLst>
                </a:gridCol>
                <a:gridCol w="1239880">
                  <a:extLst>
                    <a:ext uri="{9D8B030D-6E8A-4147-A177-3AD203B41FA5}">
                      <a16:colId xmlns:a16="http://schemas.microsoft.com/office/drawing/2014/main" val="1289798849"/>
                    </a:ext>
                  </a:extLst>
                </a:gridCol>
              </a:tblGrid>
              <a:tr h="176159">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S. No</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Author(s)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Year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Methodology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Dataset Used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Key Findings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Limitations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2955882942"/>
                  </a:ext>
                </a:extLst>
              </a:tr>
              <a:tr h="547124">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1</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Buczak and Guven</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2016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Machine Learning Survey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KDD, NSL-KDD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Studied ML techniques for intrusion detection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No response mechanism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2161746037"/>
                  </a:ext>
                </a:extLst>
              </a:tr>
              <a:tr h="590157">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err="1">
                          <a:effectLst/>
                          <a:latin typeface="Times New Roman" panose="02020603050405020304" pitchFamily="18" charset="0"/>
                          <a:cs typeface="Times New Roman" panose="02020603050405020304" pitchFamily="18" charset="0"/>
                        </a:rPr>
                        <a:t>Sharafaldin</a:t>
                      </a:r>
                      <a:r>
                        <a:rPr lang="en-IN" sz="1100" kern="100" dirty="0">
                          <a:effectLst/>
                          <a:latin typeface="Times New Roman" panose="02020603050405020304" pitchFamily="18" charset="0"/>
                          <a:cs typeface="Times New Roman" panose="02020603050405020304" pitchFamily="18" charset="0"/>
                        </a:rPr>
                        <a:t> et al.</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2018</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ML-based IDS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CICIDS 2017</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Provided realistic dataset for intrusion detection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Dataset complexity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1559032557"/>
                  </a:ext>
                </a:extLst>
              </a:tr>
              <a:tr h="470926">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3</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Ahmad et al.</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2019</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Deep Learning</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UNSW-NB15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Improved detection accuracy using DL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Lack of explainability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1217087206"/>
                  </a:ext>
                </a:extLst>
              </a:tr>
              <a:tr h="547124">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4</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err="1">
                          <a:effectLst/>
                          <a:latin typeface="Times New Roman" panose="02020603050405020304" pitchFamily="18" charset="0"/>
                          <a:cs typeface="Times New Roman" panose="02020603050405020304" pitchFamily="18" charset="0"/>
                        </a:rPr>
                        <a:t>Ferrag</a:t>
                      </a:r>
                      <a:r>
                        <a:rPr lang="en-IN" sz="1100" kern="100" dirty="0">
                          <a:effectLst/>
                          <a:latin typeface="Times New Roman" panose="02020603050405020304" pitchFamily="18" charset="0"/>
                          <a:cs typeface="Times New Roman" panose="02020603050405020304" pitchFamily="18" charset="0"/>
                        </a:rPr>
                        <a:t> et al.</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2023</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ML &amp; DL Survey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Multiple datasets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Comprehensive overview of IDS techniques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No response/mitigation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2502355004"/>
                  </a:ext>
                </a:extLst>
              </a:tr>
              <a:tr h="361641">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Hindy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2024</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AI-based IDS</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Network traffic data</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Applied AI for intrusion detection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No automated response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2162280163"/>
                  </a:ext>
                </a:extLst>
              </a:tr>
              <a:tr h="547124">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Yang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2025</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Deep Neural Networks</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CICIDS</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High accuracy in intrusion detection</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High computational cost</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62462542"/>
                  </a:ext>
                </a:extLst>
              </a:tr>
              <a:tr h="547124">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7</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Boutassetta et al.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2026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Hybrid IDS (Signature + Anomaly)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Multiple datasets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Improved detection using hybrid approach</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Complex integration</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189" marR="44189" marT="0" marB="0"/>
                </a:tc>
                <a:extLst>
                  <a:ext uri="{0D108BD9-81ED-4DB2-BD59-A6C34878D82A}">
                    <a16:rowId xmlns:a16="http://schemas.microsoft.com/office/drawing/2014/main" val="1827941890"/>
                  </a:ext>
                </a:extLst>
              </a:tr>
            </a:tbl>
          </a:graphicData>
        </a:graphic>
      </p:graphicFrame>
    </p:spTree>
    <p:extLst>
      <p:ext uri="{BB962C8B-B14F-4D97-AF65-F5344CB8AC3E}">
        <p14:creationId xmlns:p14="http://schemas.microsoft.com/office/powerpoint/2010/main" val="352033401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2F8FCB-336B-02BF-4698-38400D557C00}"/>
              </a:ext>
            </a:extLst>
          </p:cNvPr>
          <p:cNvSpPr>
            <a:spLocks noGrp="1"/>
          </p:cNvSpPr>
          <p:nvPr>
            <p:ph type="sldNum" sz="quarter" idx="12"/>
          </p:nvPr>
        </p:nvSpPr>
        <p:spPr>
          <a:xfrm>
            <a:off x="8153399" y="4816080"/>
            <a:ext cx="765495" cy="273844"/>
          </a:xfrm>
        </p:spPr>
        <p:txBody>
          <a:bodyPr/>
          <a:lstStyle/>
          <a:p>
            <a:pPr>
              <a:defRPr/>
            </a:pPr>
            <a:fld id="{FAB6ED7B-5CA3-4472-B01C-99CB7689D1EA}" type="slidenum">
              <a:rPr lang="en-US" smtClean="0">
                <a:solidFill>
                  <a:schemeClr val="bg1"/>
                </a:solidFill>
              </a:rPr>
              <a:pPr>
                <a:defRPr/>
              </a:pPr>
              <a:t>17</a:t>
            </a:fld>
            <a:endParaRPr lang="en-US">
              <a:solidFill>
                <a:schemeClr val="bg1"/>
              </a:solidFill>
            </a:endParaRPr>
          </a:p>
        </p:txBody>
      </p:sp>
      <p:graphicFrame>
        <p:nvGraphicFramePr>
          <p:cNvPr id="6" name="Table 5">
            <a:extLst>
              <a:ext uri="{FF2B5EF4-FFF2-40B4-BE49-F238E27FC236}">
                <a16:creationId xmlns:a16="http://schemas.microsoft.com/office/drawing/2014/main" id="{75A29DFC-5986-AB4A-E58B-08C58ED0500E}"/>
              </a:ext>
            </a:extLst>
          </p:cNvPr>
          <p:cNvGraphicFramePr>
            <a:graphicFrameLocks noGrp="1"/>
          </p:cNvGraphicFramePr>
          <p:nvPr>
            <p:extLst>
              <p:ext uri="{D42A27DB-BD31-4B8C-83A1-F6EECF244321}">
                <p14:modId xmlns:p14="http://schemas.microsoft.com/office/powerpoint/2010/main" val="669674421"/>
              </p:ext>
            </p:extLst>
          </p:nvPr>
        </p:nvGraphicFramePr>
        <p:xfrm>
          <a:off x="0" y="685800"/>
          <a:ext cx="9144000" cy="5224441"/>
        </p:xfrm>
        <a:graphic>
          <a:graphicData uri="http://schemas.openxmlformats.org/drawingml/2006/table">
            <a:tbl>
              <a:tblPr/>
              <a:tblGrid>
                <a:gridCol w="3048000">
                  <a:extLst>
                    <a:ext uri="{9D8B030D-6E8A-4147-A177-3AD203B41FA5}">
                      <a16:colId xmlns:a16="http://schemas.microsoft.com/office/drawing/2014/main" val="1242726037"/>
                    </a:ext>
                  </a:extLst>
                </a:gridCol>
                <a:gridCol w="3048000">
                  <a:extLst>
                    <a:ext uri="{9D8B030D-6E8A-4147-A177-3AD203B41FA5}">
                      <a16:colId xmlns:a16="http://schemas.microsoft.com/office/drawing/2014/main" val="2432330460"/>
                    </a:ext>
                  </a:extLst>
                </a:gridCol>
                <a:gridCol w="3048000">
                  <a:extLst>
                    <a:ext uri="{9D8B030D-6E8A-4147-A177-3AD203B41FA5}">
                      <a16:colId xmlns:a16="http://schemas.microsoft.com/office/drawing/2014/main" val="1157615672"/>
                    </a:ext>
                  </a:extLst>
                </a:gridCol>
              </a:tblGrid>
              <a:tr h="354589">
                <a:tc>
                  <a:txBody>
                    <a:bodyPr/>
                    <a:lstStyle/>
                    <a:p>
                      <a:pPr algn="l">
                        <a:buNone/>
                      </a:pPr>
                      <a:r>
                        <a:rPr lang="en-IN" sz="2400" b="1" dirty="0">
                          <a:solidFill>
                            <a:schemeClr val="bg1"/>
                          </a:solidFill>
                          <a:latin typeface="Times New Roman" panose="02020603050405020304" pitchFamily="18" charset="0"/>
                          <a:cs typeface="Times New Roman" panose="02020603050405020304" pitchFamily="18" charset="0"/>
                        </a:rPr>
                        <a:t>Feature</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2000" b="1" dirty="0">
                          <a:solidFill>
                            <a:schemeClr val="bg1"/>
                          </a:solidFill>
                          <a:latin typeface="Times New Roman" panose="02020603050405020304" pitchFamily="18" charset="0"/>
                          <a:cs typeface="Times New Roman" panose="02020603050405020304" pitchFamily="18" charset="0"/>
                        </a:rPr>
                        <a:t>Existing Intrusion Detection Systems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2400" b="1" dirty="0">
                          <a:solidFill>
                            <a:schemeClr val="bg1"/>
                          </a:solidFill>
                          <a:latin typeface="Times New Roman" panose="02020603050405020304" pitchFamily="18" charset="0"/>
                          <a:cs typeface="Times New Roman" panose="02020603050405020304" pitchFamily="18" charset="0"/>
                        </a:rPr>
                        <a:t>Proposed Project </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660663089"/>
                  </a:ext>
                </a:extLst>
              </a:tr>
              <a:tr h="506556">
                <a:tc>
                  <a:txBody>
                    <a:bodyPr/>
                    <a:lstStyle/>
                    <a:p>
                      <a:pPr algn="l">
                        <a:buNone/>
                      </a:pPr>
                      <a:r>
                        <a:rPr lang="en-IN" sz="1600" b="1" dirty="0">
                          <a:solidFill>
                            <a:schemeClr val="bg1"/>
                          </a:solidFill>
                          <a:latin typeface="Times New Roman" panose="02020603050405020304" pitchFamily="18" charset="0"/>
                          <a:cs typeface="Times New Roman" panose="02020603050405020304" pitchFamily="18" charset="0"/>
                        </a:rPr>
                        <a:t>Main Purpose</a:t>
                      </a:r>
                      <a:endParaRPr lang="en-IN" sz="1600" dirty="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1600" dirty="0">
                          <a:solidFill>
                            <a:schemeClr val="bg1"/>
                          </a:solidFill>
                          <a:latin typeface="Times New Roman" panose="02020603050405020304" pitchFamily="18" charset="0"/>
                          <a:cs typeface="Times New Roman" panose="02020603050405020304" pitchFamily="18" charset="0"/>
                        </a:rPr>
                        <a:t>Detect malicious network traffic</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a:solidFill>
                            <a:schemeClr val="bg1"/>
                          </a:solidFill>
                          <a:latin typeface="Times New Roman" panose="02020603050405020304" pitchFamily="18" charset="0"/>
                          <a:cs typeface="Times New Roman" panose="02020603050405020304" pitchFamily="18" charset="0"/>
                        </a:rPr>
                        <a:t>Detect intrusions and recommend security responses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12781512"/>
                  </a:ext>
                </a:extLst>
              </a:tr>
              <a:tr h="506556">
                <a:tc>
                  <a:txBody>
                    <a:bodyPr/>
                    <a:lstStyle/>
                    <a:p>
                      <a:pPr algn="l">
                        <a:buNone/>
                      </a:pPr>
                      <a:r>
                        <a:rPr lang="en-IN" sz="1600" b="1" dirty="0">
                          <a:solidFill>
                            <a:schemeClr val="bg1"/>
                          </a:solidFill>
                          <a:latin typeface="Times New Roman" panose="02020603050405020304" pitchFamily="18" charset="0"/>
                          <a:cs typeface="Times New Roman" panose="02020603050405020304" pitchFamily="18" charset="0"/>
                        </a:rPr>
                        <a:t>Technology Used</a:t>
                      </a:r>
                      <a:endParaRPr lang="en-IN" sz="1600" dirty="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a:solidFill>
                            <a:schemeClr val="bg1"/>
                          </a:solidFill>
                          <a:latin typeface="Times New Roman" panose="02020603050405020304" pitchFamily="18" charset="0"/>
                          <a:cs typeface="Times New Roman" panose="02020603050405020304" pitchFamily="18" charset="0"/>
                        </a:rPr>
                        <a:t>Mostly Machine Learning or signature-based detection</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Combination of Machine Learning and Artificial Intelligence</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019803710"/>
                  </a:ext>
                </a:extLst>
              </a:tr>
              <a:tr h="506556">
                <a:tc>
                  <a:txBody>
                    <a:bodyPr/>
                    <a:lstStyle/>
                    <a:p>
                      <a:pPr algn="l">
                        <a:buNone/>
                      </a:pPr>
                      <a:r>
                        <a:rPr lang="en-IN" sz="1600" b="1" dirty="0">
                          <a:solidFill>
                            <a:schemeClr val="bg1"/>
                          </a:solidFill>
                          <a:latin typeface="Times New Roman" panose="02020603050405020304" pitchFamily="18" charset="0"/>
                          <a:cs typeface="Times New Roman" panose="02020603050405020304" pitchFamily="18" charset="0"/>
                        </a:rPr>
                        <a:t>Detection Capability</a:t>
                      </a:r>
                      <a:endParaRPr lang="en-IN" sz="1600" dirty="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Identifies whether traffic is normal or malicious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a:solidFill>
                            <a:schemeClr val="bg1"/>
                          </a:solidFill>
                          <a:latin typeface="Times New Roman" panose="02020603050405020304" pitchFamily="18" charset="0"/>
                          <a:cs typeface="Times New Roman" panose="02020603050405020304" pitchFamily="18" charset="0"/>
                        </a:rPr>
                        <a:t>Detects attacks and analyzes their severity</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011011556"/>
                  </a:ext>
                </a:extLst>
              </a:tr>
              <a:tr h="506556">
                <a:tc>
                  <a:txBody>
                    <a:bodyPr/>
                    <a:lstStyle/>
                    <a:p>
                      <a:pPr algn="l">
                        <a:buNone/>
                      </a:pPr>
                      <a:r>
                        <a:rPr lang="en-IN" sz="1600" b="1" dirty="0">
                          <a:solidFill>
                            <a:schemeClr val="bg1"/>
                          </a:solidFill>
                          <a:latin typeface="Times New Roman" panose="02020603050405020304" pitchFamily="18" charset="0"/>
                          <a:cs typeface="Times New Roman" panose="02020603050405020304" pitchFamily="18" charset="0"/>
                        </a:rPr>
                        <a:t>Decision Making</a:t>
                      </a:r>
                      <a:endParaRPr lang="en-IN" sz="1600" dirty="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1600" dirty="0">
                          <a:solidFill>
                            <a:schemeClr val="bg1"/>
                          </a:solidFill>
                          <a:latin typeface="Times New Roman" panose="02020603050405020304" pitchFamily="18" charset="0"/>
                          <a:cs typeface="Times New Roman" panose="02020603050405020304" pitchFamily="18" charset="0"/>
                        </a:rPr>
                        <a:t>No intelligent decision-making support</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1600">
                          <a:solidFill>
                            <a:schemeClr val="bg1"/>
                          </a:solidFill>
                          <a:latin typeface="Times New Roman" panose="02020603050405020304" pitchFamily="18" charset="0"/>
                          <a:cs typeface="Times New Roman" panose="02020603050405020304" pitchFamily="18" charset="0"/>
                        </a:rPr>
                        <a:t>AI-based decision engine recommends actions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274221494"/>
                  </a:ext>
                </a:extLst>
              </a:tr>
              <a:tr h="354589">
                <a:tc>
                  <a:txBody>
                    <a:bodyPr/>
                    <a:lstStyle/>
                    <a:p>
                      <a:pPr algn="l">
                        <a:buNone/>
                      </a:pPr>
                      <a:r>
                        <a:rPr lang="en-IN" sz="1600" b="1" dirty="0">
                          <a:solidFill>
                            <a:schemeClr val="bg1"/>
                          </a:solidFill>
                          <a:latin typeface="Times New Roman" panose="02020603050405020304" pitchFamily="18" charset="0"/>
                          <a:cs typeface="Times New Roman" panose="02020603050405020304" pitchFamily="18" charset="0"/>
                        </a:rPr>
                        <a:t>Alert Handling</a:t>
                      </a:r>
                      <a:endParaRPr lang="en-IN" sz="1600" dirty="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Generates large number of alerts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a:solidFill>
                            <a:schemeClr val="bg1"/>
                          </a:solidFill>
                          <a:latin typeface="Times New Roman" panose="02020603050405020304" pitchFamily="18" charset="0"/>
                          <a:cs typeface="Times New Roman" panose="02020603050405020304" pitchFamily="18" charset="0"/>
                        </a:rPr>
                        <a:t>Prioritizes alerts based on severity</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910342035"/>
                  </a:ext>
                </a:extLst>
              </a:tr>
              <a:tr h="506556">
                <a:tc>
                  <a:txBody>
                    <a:bodyPr/>
                    <a:lstStyle/>
                    <a:p>
                      <a:pPr algn="l">
                        <a:buNone/>
                      </a:pPr>
                      <a:r>
                        <a:rPr lang="en-IN" sz="1600" b="1" dirty="0">
                          <a:solidFill>
                            <a:schemeClr val="bg1"/>
                          </a:solidFill>
                          <a:latin typeface="Times New Roman" panose="02020603050405020304" pitchFamily="18" charset="0"/>
                          <a:cs typeface="Times New Roman" panose="02020603050405020304" pitchFamily="18" charset="0"/>
                        </a:rPr>
                        <a:t>Response Mechanism</a:t>
                      </a:r>
                      <a:endParaRPr lang="en-IN" sz="1600" dirty="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1600" dirty="0">
                          <a:solidFill>
                            <a:schemeClr val="bg1"/>
                          </a:solidFill>
                          <a:latin typeface="Times New Roman" panose="02020603050405020304" pitchFamily="18" charset="0"/>
                          <a:cs typeface="Times New Roman" panose="02020603050405020304" pitchFamily="18" charset="0"/>
                        </a:rPr>
                        <a:t>Manual response by administrator</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a:solidFill>
                            <a:schemeClr val="bg1"/>
                          </a:solidFill>
                          <a:latin typeface="Times New Roman" panose="02020603050405020304" pitchFamily="18" charset="0"/>
                          <a:cs typeface="Times New Roman" panose="02020603050405020304" pitchFamily="18" charset="0"/>
                        </a:rPr>
                        <a:t>Suggests response actions such as monitor, alert, or block</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789681976"/>
                  </a:ext>
                </a:extLst>
              </a:tr>
              <a:tr h="506556">
                <a:tc>
                  <a:txBody>
                    <a:bodyPr/>
                    <a:lstStyle/>
                    <a:p>
                      <a:pPr algn="l">
                        <a:buNone/>
                      </a:pPr>
                      <a:r>
                        <a:rPr lang="en-IN" sz="1600" b="1">
                          <a:solidFill>
                            <a:schemeClr val="bg1"/>
                          </a:solidFill>
                          <a:latin typeface="Times New Roman" panose="02020603050405020304" pitchFamily="18" charset="0"/>
                          <a:cs typeface="Times New Roman" panose="02020603050405020304" pitchFamily="18" charset="0"/>
                        </a:rPr>
                        <a:t>Explainability</a:t>
                      </a:r>
                      <a:endParaRPr lang="en-IN" sz="160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Limited explanation of detected threats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Provides explanation for each recommended action</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329040329"/>
                  </a:ext>
                </a:extLst>
              </a:tr>
              <a:tr h="354589">
                <a:tc>
                  <a:txBody>
                    <a:bodyPr/>
                    <a:lstStyle/>
                    <a:p>
                      <a:pPr algn="l">
                        <a:buNone/>
                      </a:pPr>
                      <a:r>
                        <a:rPr lang="en-IN" sz="1600" b="1">
                          <a:solidFill>
                            <a:schemeClr val="bg1"/>
                          </a:solidFill>
                          <a:latin typeface="Times New Roman" panose="02020603050405020304" pitchFamily="18" charset="0"/>
                          <a:cs typeface="Times New Roman" panose="02020603050405020304" pitchFamily="18" charset="0"/>
                        </a:rPr>
                        <a:t>System Intelligence</a:t>
                      </a:r>
                      <a:endParaRPr lang="en-IN" sz="160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a:solidFill>
                            <a:schemeClr val="bg1"/>
                          </a:solidFill>
                          <a:latin typeface="Times New Roman" panose="02020603050405020304" pitchFamily="18" charset="0"/>
                          <a:cs typeface="Times New Roman" panose="02020603050405020304" pitchFamily="18" charset="0"/>
                        </a:rPr>
                        <a:t>Focuses mainly on detection accuracy</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IN" sz="1600" dirty="0">
                          <a:solidFill>
                            <a:schemeClr val="bg1"/>
                          </a:solidFill>
                          <a:latin typeface="Times New Roman" panose="02020603050405020304" pitchFamily="18" charset="0"/>
                          <a:cs typeface="Times New Roman" panose="02020603050405020304" pitchFamily="18" charset="0"/>
                        </a:rPr>
                        <a:t>Provides intelligent decision support</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29134348"/>
                  </a:ext>
                </a:extLst>
              </a:tr>
              <a:tr h="354589">
                <a:tc>
                  <a:txBody>
                    <a:bodyPr/>
                    <a:lstStyle/>
                    <a:p>
                      <a:pPr algn="l">
                        <a:buNone/>
                      </a:pPr>
                      <a:r>
                        <a:rPr lang="en-IN" sz="1600" b="1">
                          <a:solidFill>
                            <a:schemeClr val="bg1"/>
                          </a:solidFill>
                          <a:latin typeface="Times New Roman" panose="02020603050405020304" pitchFamily="18" charset="0"/>
                          <a:cs typeface="Times New Roman" panose="02020603050405020304" pitchFamily="18" charset="0"/>
                        </a:rPr>
                        <a:t>Usability</a:t>
                      </a:r>
                      <a:endParaRPr lang="en-IN" sz="1600">
                        <a:solidFill>
                          <a:schemeClr val="bg1"/>
                        </a:solidFill>
                        <a:latin typeface="Times New Roman" panose="02020603050405020304" pitchFamily="18" charset="0"/>
                        <a:cs typeface="Times New Roman" panose="02020603050405020304" pitchFamily="18" charset="0"/>
                      </a:endParaRP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Requires manual analysis of alerts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buNone/>
                      </a:pPr>
                      <a:r>
                        <a:rPr lang="en-US" sz="1600" dirty="0">
                          <a:solidFill>
                            <a:schemeClr val="bg1"/>
                          </a:solidFill>
                          <a:latin typeface="Times New Roman" panose="02020603050405020304" pitchFamily="18" charset="0"/>
                          <a:cs typeface="Times New Roman" panose="02020603050405020304" pitchFamily="18" charset="0"/>
                        </a:rPr>
                        <a:t>Helps administrators make faster decisions</a:t>
                      </a:r>
                    </a:p>
                  </a:txBody>
                  <a:tcPr marL="39868" marR="39868" marT="19934" marB="1993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951628618"/>
                  </a:ext>
                </a:extLst>
              </a:tr>
            </a:tbl>
          </a:graphicData>
        </a:graphic>
      </p:graphicFrame>
      <p:sp>
        <p:nvSpPr>
          <p:cNvPr id="7" name="Rectangle 6">
            <a:extLst>
              <a:ext uri="{FF2B5EF4-FFF2-40B4-BE49-F238E27FC236}">
                <a16:creationId xmlns:a16="http://schemas.microsoft.com/office/drawing/2014/main" id="{51FF47EB-954F-B0C8-0947-C560F3EF29BF}"/>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spTree>
    <p:extLst>
      <p:ext uri="{BB962C8B-B14F-4D97-AF65-F5344CB8AC3E}">
        <p14:creationId xmlns:p14="http://schemas.microsoft.com/office/powerpoint/2010/main" val="179672434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F0350-2EC5-52E0-CE8C-D737F6E118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288BCD-2684-7234-05EC-EABA9CD7DA81}"/>
              </a:ext>
            </a:extLst>
          </p:cNvPr>
          <p:cNvSpPr>
            <a:spLocks noGrp="1"/>
          </p:cNvSpPr>
          <p:nvPr>
            <p:ph type="sldNum" sz="quarter" idx="12"/>
          </p:nvPr>
        </p:nvSpPr>
        <p:spPr/>
        <p:txBody>
          <a:bodyPr/>
          <a:lstStyle/>
          <a:p>
            <a:pPr>
              <a:defRPr/>
            </a:pPr>
            <a:fld id="{FAB6ED7B-5CA3-4472-B01C-99CB7689D1EA}" type="slidenum">
              <a:rPr lang="en-US" smtClean="0"/>
              <a:pPr>
                <a:defRPr/>
              </a:pPr>
              <a:t>18</a:t>
            </a:fld>
            <a:endParaRPr lang="en-US"/>
          </a:p>
        </p:txBody>
      </p:sp>
      <p:sp>
        <p:nvSpPr>
          <p:cNvPr id="5" name="Rectangle 4">
            <a:extLst>
              <a:ext uri="{FF2B5EF4-FFF2-40B4-BE49-F238E27FC236}">
                <a16:creationId xmlns:a16="http://schemas.microsoft.com/office/drawing/2014/main" id="{4DDC6A34-47ED-9B9C-C4F7-44EA2492B38E}"/>
              </a:ext>
            </a:extLst>
          </p:cNvPr>
          <p:cNvSpPr/>
          <p:nvPr/>
        </p:nvSpPr>
        <p:spPr>
          <a:xfrm>
            <a:off x="1073" y="31038"/>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A964D743-7C2E-3BFA-68EB-CAB3DD799D16}"/>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D60884A1-53F3-A165-4F63-FCC160C33EC9}"/>
              </a:ext>
            </a:extLst>
          </p:cNvPr>
          <p:cNvSpPr/>
          <p:nvPr/>
        </p:nvSpPr>
        <p:spPr>
          <a:xfrm>
            <a:off x="228600" y="895350"/>
            <a:ext cx="8991600" cy="966418"/>
          </a:xfrm>
          <a:prstGeom prst="rect">
            <a:avLst/>
          </a:prstGeom>
        </p:spPr>
        <p:txBody>
          <a:bodyPr wrap="square">
            <a:spAutoFit/>
          </a:bodyPr>
          <a:lstStyle/>
          <a:p>
            <a:pPr lvl="0" fontAlgn="auto">
              <a:spcBef>
                <a:spcPct val="20000"/>
              </a:spcBef>
              <a:spcAft>
                <a:spcPts val="0"/>
              </a:spcAft>
              <a:tabLst>
                <a:tab pos="177800" algn="l"/>
              </a:tabLst>
            </a:pPr>
            <a:r>
              <a:rPr lang="en-IN" sz="2800" b="1" dirty="0">
                <a:solidFill>
                  <a:schemeClr val="bg1"/>
                </a:solidFill>
                <a:latin typeface="Times New Roman" panose="02020603050405020304" pitchFamily="18" charset="0"/>
                <a:cs typeface="Times New Roman" panose="02020603050405020304" pitchFamily="18" charset="0"/>
              </a:rPr>
              <a:t>Objectives:</a:t>
            </a:r>
            <a:endParaRPr lang="en-IN" sz="1600" b="1" dirty="0">
              <a:solidFill>
                <a:schemeClr val="bg1"/>
              </a:solidFill>
              <a:latin typeface="Times New Roman" panose="02020603050405020304" pitchFamily="18" charset="0"/>
              <a:cs typeface="Times New Roman" panose="02020603050405020304" pitchFamily="18" charset="0"/>
            </a:endParaRPr>
          </a:p>
          <a:p>
            <a:pPr lvl="0" fontAlgn="auto">
              <a:spcBef>
                <a:spcPct val="20000"/>
              </a:spcBef>
              <a:spcAft>
                <a:spcPts val="0"/>
              </a:spcAft>
              <a:tabLst>
                <a:tab pos="177800" algn="l"/>
              </a:tabLst>
            </a:pP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F773738B-43B3-B5C8-7A30-4E390105E095}"/>
              </a:ext>
            </a:extLst>
          </p:cNvPr>
          <p:cNvSpPr>
            <a:spLocks noChangeArrowheads="1"/>
          </p:cNvSpPr>
          <p:nvPr/>
        </p:nvSpPr>
        <p:spPr bwMode="auto">
          <a:xfrm>
            <a:off x="381000" y="1581150"/>
            <a:ext cx="616700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To detect network intrusions using machine learning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To classify network traffic as normal or malicious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To assign severity levels to detected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To provide intelligent response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lumOff val="5000"/>
                  </a:schemeClr>
                </a:solidFill>
                <a:effectLst/>
                <a:latin typeface="Times New Roman" panose="02020603050405020304" pitchFamily="18" charset="0"/>
                <a:cs typeface="Times New Roman" panose="02020603050405020304" pitchFamily="18" charset="0"/>
              </a:rPr>
              <a:t>To reduce manual intervention in network security management</a:t>
            </a:r>
          </a:p>
        </p:txBody>
      </p:sp>
    </p:spTree>
    <p:extLst>
      <p:ext uri="{BB962C8B-B14F-4D97-AF65-F5344CB8AC3E}">
        <p14:creationId xmlns:p14="http://schemas.microsoft.com/office/powerpoint/2010/main" val="324124666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319D1-E092-F801-9F85-DD5FED1792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F711E5-6241-826F-AE03-005B533B7987}"/>
              </a:ext>
            </a:extLst>
          </p:cNvPr>
          <p:cNvSpPr>
            <a:spLocks noGrp="1"/>
          </p:cNvSpPr>
          <p:nvPr>
            <p:ph type="sldNum" sz="quarter" idx="12"/>
          </p:nvPr>
        </p:nvSpPr>
        <p:spPr/>
        <p:txBody>
          <a:bodyPr/>
          <a:lstStyle/>
          <a:p>
            <a:pPr>
              <a:defRPr/>
            </a:pPr>
            <a:fld id="{FAB6ED7B-5CA3-4472-B01C-99CB7689D1EA}" type="slidenum">
              <a:rPr lang="en-US" smtClean="0"/>
              <a:pPr>
                <a:defRPr/>
              </a:pPr>
              <a:t>19</a:t>
            </a:fld>
            <a:endParaRPr lang="en-US"/>
          </a:p>
        </p:txBody>
      </p:sp>
      <p:sp>
        <p:nvSpPr>
          <p:cNvPr id="5" name="Rectangle 4">
            <a:extLst>
              <a:ext uri="{FF2B5EF4-FFF2-40B4-BE49-F238E27FC236}">
                <a16:creationId xmlns:a16="http://schemas.microsoft.com/office/drawing/2014/main" id="{4E8C1943-0A19-0E17-3901-09A42D547B5D}"/>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EFEC36F9-D4BC-5A02-B4D3-218B76E287AF}"/>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38307CD3-914F-4003-B877-1B159F46FA98}"/>
              </a:ext>
            </a:extLst>
          </p:cNvPr>
          <p:cNvSpPr/>
          <p:nvPr/>
        </p:nvSpPr>
        <p:spPr>
          <a:xfrm>
            <a:off x="76200" y="1123950"/>
            <a:ext cx="8991600" cy="2640723"/>
          </a:xfrm>
          <a:prstGeom prst="rect">
            <a:avLst/>
          </a:prstGeom>
        </p:spPr>
        <p:txBody>
          <a:bodyPr wrap="square">
            <a:spAutoFit/>
          </a:bodyPr>
          <a:lstStyle/>
          <a:p>
            <a:pPr lvl="0" fontAlgn="auto">
              <a:spcBef>
                <a:spcPct val="20000"/>
              </a:spcBef>
              <a:spcAft>
                <a:spcPts val="0"/>
              </a:spcAft>
              <a:tabLst>
                <a:tab pos="177800" algn="l"/>
              </a:tabLst>
            </a:pPr>
            <a:r>
              <a:rPr lang="en-IN" altLang="en-US" b="1" dirty="0">
                <a:solidFill>
                  <a:schemeClr val="bg1"/>
                </a:solidFill>
              </a:rPr>
              <a:t>Conclusion:</a:t>
            </a:r>
          </a:p>
          <a:p>
            <a:pPr lvl="0" fontAlgn="auto">
              <a:spcBef>
                <a:spcPct val="20000"/>
              </a:spcBef>
              <a:spcAft>
                <a:spcPts val="0"/>
              </a:spcAft>
              <a:tabLst>
                <a:tab pos="177800" algn="l"/>
              </a:tabLst>
            </a:pPr>
            <a:endParaRPr lang="en-IN" altLang="en-US" b="1" dirty="0">
              <a:solidFill>
                <a:schemeClr val="bg1"/>
              </a:solidFill>
            </a:endParaRPr>
          </a:p>
          <a:p>
            <a:pPr algn="just"/>
            <a:r>
              <a:rPr lang="en-US" dirty="0">
                <a:solidFill>
                  <a:schemeClr val="bg1">
                    <a:lumMod val="95000"/>
                    <a:lumOff val="5000"/>
                  </a:schemeClr>
                </a:solidFill>
                <a:latin typeface="Times New Roman" panose="02020603050405020304" pitchFamily="18" charset="0"/>
                <a:cs typeface="Times New Roman" panose="02020603050405020304" pitchFamily="18" charset="0"/>
              </a:rPr>
              <a:t>This project presents an AI-Based Network Intrusion Detection System that combines Machine Learning for intrusion detection with Artificial Intelligence for intelligent decision-making. The proposed system not only detects malicious network traffic but also prioritizes threats and recommends appropriate response actions. By reducing alert overload and supporting explainable security decisions, the system improves the effectiveness of traditional IDS solutions. This approach provides a scalable, efficient, and intelligent solution for modern network security challenges.</a:t>
            </a:r>
          </a:p>
        </p:txBody>
      </p:sp>
    </p:spTree>
    <p:extLst>
      <p:ext uri="{BB962C8B-B14F-4D97-AF65-F5344CB8AC3E}">
        <p14:creationId xmlns:p14="http://schemas.microsoft.com/office/powerpoint/2010/main" val="151341309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A5AE-FE0E-5FDC-2773-371ED2020E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22FAEC-407C-7A02-D037-0AA2AB2C0056}"/>
              </a:ext>
            </a:extLst>
          </p:cNvPr>
          <p:cNvSpPr>
            <a:spLocks noGrp="1"/>
          </p:cNvSpPr>
          <p:nvPr>
            <p:ph type="sldNum" sz="quarter" idx="12"/>
          </p:nvPr>
        </p:nvSpPr>
        <p:spPr/>
        <p:txBody>
          <a:bodyPr/>
          <a:lstStyle/>
          <a:p>
            <a:pPr>
              <a:defRPr/>
            </a:pPr>
            <a:fld id="{FAB6ED7B-5CA3-4472-B01C-99CB7689D1EA}" type="slidenum">
              <a:rPr lang="en-US" smtClean="0"/>
              <a:pPr>
                <a:defRPr/>
              </a:pPr>
              <a:t>20</a:t>
            </a:fld>
            <a:endParaRPr lang="en-US"/>
          </a:p>
        </p:txBody>
      </p:sp>
      <p:sp>
        <p:nvSpPr>
          <p:cNvPr id="5" name="Rectangle 4">
            <a:extLst>
              <a:ext uri="{FF2B5EF4-FFF2-40B4-BE49-F238E27FC236}">
                <a16:creationId xmlns:a16="http://schemas.microsoft.com/office/drawing/2014/main" id="{72186AB4-0381-58C6-B6E1-ED5A8B841E23}"/>
              </a:ext>
            </a:extLst>
          </p:cNvPr>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000" b="1" dirty="0">
                <a:solidFill>
                  <a:schemeClr val="tx1"/>
                </a:solidFill>
                <a:latin typeface="Calibri" pitchFamily="34" charset="0"/>
                <a:cs typeface="Calibri" pitchFamily="34" charset="0"/>
              </a:rPr>
              <a:t>REVIEW-3</a:t>
            </a:r>
          </a:p>
        </p:txBody>
      </p:sp>
      <p:pic>
        <p:nvPicPr>
          <p:cNvPr id="6" name="Picture 6" descr="iarelogo.JPG">
            <a:extLst>
              <a:ext uri="{FF2B5EF4-FFF2-40B4-BE49-F238E27FC236}">
                <a16:creationId xmlns:a16="http://schemas.microsoft.com/office/drawing/2014/main" id="{1CF8E9D0-0155-15DB-5279-27B0052CFAFE}"/>
              </a:ext>
            </a:extLst>
          </p:cNvPr>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a:extLst>
              <a:ext uri="{FF2B5EF4-FFF2-40B4-BE49-F238E27FC236}">
                <a16:creationId xmlns:a16="http://schemas.microsoft.com/office/drawing/2014/main" id="{9F1F8F91-BA09-159F-3C59-293F100D1036}"/>
              </a:ext>
            </a:extLst>
          </p:cNvPr>
          <p:cNvSpPr/>
          <p:nvPr/>
        </p:nvSpPr>
        <p:spPr>
          <a:xfrm>
            <a:off x="76200" y="742951"/>
            <a:ext cx="8458200" cy="338554"/>
          </a:xfrm>
          <a:prstGeom prst="rect">
            <a:avLst/>
          </a:prstGeom>
        </p:spPr>
        <p:txBody>
          <a:bodyPr wrap="square">
            <a:spAutoFit/>
          </a:bodyPr>
          <a:lstStyle/>
          <a:p>
            <a:pPr lvl="0" fontAlgn="auto">
              <a:spcBef>
                <a:spcPct val="20000"/>
              </a:spcBef>
              <a:spcAft>
                <a:spcPts val="0"/>
              </a:spcAft>
              <a:tabLst>
                <a:tab pos="177800" algn="l"/>
              </a:tabLst>
            </a:pPr>
            <a:r>
              <a:rPr lang="en-IN" altLang="en-US" sz="1600" b="1" dirty="0">
                <a:solidFill>
                  <a:schemeClr val="bg1">
                    <a:lumMod val="95000"/>
                    <a:lumOff val="5000"/>
                  </a:schemeClr>
                </a:solidFill>
              </a:rPr>
              <a:t>References:</a:t>
            </a:r>
          </a:p>
        </p:txBody>
      </p:sp>
      <p:sp>
        <p:nvSpPr>
          <p:cNvPr id="3" name="TextBox 2">
            <a:extLst>
              <a:ext uri="{FF2B5EF4-FFF2-40B4-BE49-F238E27FC236}">
                <a16:creationId xmlns:a16="http://schemas.microsoft.com/office/drawing/2014/main" id="{11468AB2-4E12-190A-64B1-EA5FCA085EEF}"/>
              </a:ext>
            </a:extLst>
          </p:cNvPr>
          <p:cNvSpPr txBox="1"/>
          <p:nvPr/>
        </p:nvSpPr>
        <p:spPr>
          <a:xfrm>
            <a:off x="304800" y="1206232"/>
            <a:ext cx="8763000" cy="3600986"/>
          </a:xfrm>
          <a:prstGeom prst="rect">
            <a:avLst/>
          </a:prstGeom>
          <a:noFill/>
        </p:spPr>
        <p:txBody>
          <a:bodyPr wrap="square">
            <a:spAutoFit/>
          </a:bodyPr>
          <a:lstStyle/>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[1]</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Buczak, A. L. and Guven, E., “A survey of data mining and machine learning methods for cyber security intrusion detection,”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IEEE Communications Surveys &amp; Tutorials</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vol. 18, no. 2, pp. 1153–1176, 2016.</a:t>
            </a:r>
          </a:p>
          <a:p>
            <a:pPr>
              <a:buNone/>
            </a:pPr>
            <a:endParaRPr lang="en-IN" sz="1200" dirty="0">
              <a:solidFill>
                <a:schemeClr val="bg1">
                  <a:lumMod val="95000"/>
                  <a:lumOff val="5000"/>
                </a:schemeClr>
              </a:solidFill>
              <a:latin typeface="Times New Roman" panose="02020603050405020304" pitchFamily="18" charset="0"/>
              <a:cs typeface="Times New Roman" panose="02020603050405020304" pitchFamily="18" charset="0"/>
            </a:endParaRPr>
          </a:p>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[2]</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a:t>
            </a:r>
            <a:r>
              <a:rPr lang="en-IN" sz="1200" dirty="0" err="1">
                <a:solidFill>
                  <a:schemeClr val="bg1">
                    <a:lumMod val="95000"/>
                    <a:lumOff val="5000"/>
                  </a:schemeClr>
                </a:solidFill>
                <a:latin typeface="Times New Roman" panose="02020603050405020304" pitchFamily="18" charset="0"/>
                <a:cs typeface="Times New Roman" panose="02020603050405020304" pitchFamily="18" charset="0"/>
              </a:rPr>
              <a:t>Sharafaldin</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I., Lashkari, A. H., and Ghorbani, A. A., “Toward generating a new intrusion detection dataset and intrusion traffic characterization,”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Proc. International Conference on Information Systems Security and Privacy (ICISSP)</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pp. 108–116, 2018.</a:t>
            </a:r>
          </a:p>
          <a:p>
            <a:pPr>
              <a:buNone/>
            </a:pPr>
            <a:endParaRPr lang="en-IN" sz="1200" dirty="0">
              <a:solidFill>
                <a:schemeClr val="bg1">
                  <a:lumMod val="95000"/>
                  <a:lumOff val="5000"/>
                </a:schemeClr>
              </a:solidFill>
              <a:latin typeface="Times New Roman" panose="02020603050405020304" pitchFamily="18" charset="0"/>
              <a:cs typeface="Times New Roman" panose="02020603050405020304" pitchFamily="18" charset="0"/>
            </a:endParaRPr>
          </a:p>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[3]</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Ahmad, I., </a:t>
            </a:r>
            <a:r>
              <a:rPr lang="en-IN" sz="1200" dirty="0" err="1">
                <a:solidFill>
                  <a:schemeClr val="bg1">
                    <a:lumMod val="95000"/>
                    <a:lumOff val="5000"/>
                  </a:schemeClr>
                </a:solidFill>
                <a:latin typeface="Times New Roman" panose="02020603050405020304" pitchFamily="18" charset="0"/>
                <a:cs typeface="Times New Roman" panose="02020603050405020304" pitchFamily="18" charset="0"/>
              </a:rPr>
              <a:t>Basheri</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M., and Iqbal, M. F., “Efficient intrusion detection using machine learning algorithms,”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Electronics</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vol. 8, no. 2, pp. 1–17, 2019.</a:t>
            </a:r>
          </a:p>
          <a:p>
            <a:pPr>
              <a:buNone/>
            </a:pPr>
            <a:endParaRPr lang="en-IN" sz="1200" dirty="0">
              <a:solidFill>
                <a:schemeClr val="bg1">
                  <a:lumMod val="95000"/>
                  <a:lumOff val="5000"/>
                </a:schemeClr>
              </a:solidFill>
              <a:latin typeface="Times New Roman" panose="02020603050405020304" pitchFamily="18" charset="0"/>
              <a:cs typeface="Times New Roman" panose="02020603050405020304" pitchFamily="18" charset="0"/>
            </a:endParaRPr>
          </a:p>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[4]</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a:t>
            </a:r>
            <a:r>
              <a:rPr lang="en-IN" sz="1200" dirty="0" err="1">
                <a:solidFill>
                  <a:schemeClr val="bg1">
                    <a:lumMod val="95000"/>
                    <a:lumOff val="5000"/>
                  </a:schemeClr>
                </a:solidFill>
                <a:latin typeface="Times New Roman" panose="02020603050405020304" pitchFamily="18" charset="0"/>
                <a:cs typeface="Times New Roman" panose="02020603050405020304" pitchFamily="18" charset="0"/>
              </a:rPr>
              <a:t>Ferrag</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M. A. and Maglaras, L., “Deep learning for cyber security intrusion detection: Approaches, datasets, and comparative studies,”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Journal of Information Security and Applications</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vol. 50, pp. 1–16, 2020.</a:t>
            </a:r>
          </a:p>
          <a:p>
            <a:pPr>
              <a:buNone/>
            </a:pPr>
            <a:endParaRPr lang="en-IN" sz="1200" dirty="0">
              <a:solidFill>
                <a:schemeClr val="bg1">
                  <a:lumMod val="95000"/>
                  <a:lumOff val="5000"/>
                </a:schemeClr>
              </a:solidFill>
              <a:latin typeface="Times New Roman" panose="02020603050405020304" pitchFamily="18" charset="0"/>
              <a:cs typeface="Times New Roman" panose="02020603050405020304" pitchFamily="18" charset="0"/>
            </a:endParaRPr>
          </a:p>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[5]</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Hindy, H. et al., “A taxonomy and survey of intrusion detection and response systems using machine learning and deep learning,”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IEEE Communications Surveys &amp; Tutorials</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vol. 22, no. 2, pp. 1241–1280, 2024.</a:t>
            </a:r>
          </a:p>
          <a:p>
            <a:pPr>
              <a:buNone/>
            </a:pPr>
            <a:endParaRPr lang="en-IN" sz="1200" dirty="0">
              <a:solidFill>
                <a:schemeClr val="bg1">
                  <a:lumMod val="95000"/>
                  <a:lumOff val="5000"/>
                </a:schemeClr>
              </a:solidFill>
              <a:latin typeface="Times New Roman" panose="02020603050405020304" pitchFamily="18" charset="0"/>
              <a:cs typeface="Times New Roman" panose="02020603050405020304" pitchFamily="18" charset="0"/>
            </a:endParaRPr>
          </a:p>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[6]</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Yang, Y., “Network intrusion detection based on deep learning models,”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IEEE Access</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vol. 9, pp. 100500–100513, 2025.</a:t>
            </a:r>
          </a:p>
          <a:p>
            <a:pPr>
              <a:buNone/>
            </a:pPr>
            <a:endParaRPr lang="en-IN" sz="1200" dirty="0">
              <a:solidFill>
                <a:schemeClr val="bg1">
                  <a:lumMod val="95000"/>
                  <a:lumOff val="5000"/>
                </a:schemeClr>
              </a:solidFill>
              <a:latin typeface="Times New Roman" panose="02020603050405020304" pitchFamily="18" charset="0"/>
              <a:cs typeface="Times New Roman" panose="02020603050405020304" pitchFamily="18" charset="0"/>
            </a:endParaRPr>
          </a:p>
          <a:p>
            <a:pPr>
              <a:buNone/>
            </a:pPr>
            <a:r>
              <a:rPr lang="en-IN" sz="1200" b="1" dirty="0">
                <a:solidFill>
                  <a:schemeClr val="bg1">
                    <a:lumMod val="95000"/>
                    <a:lumOff val="5000"/>
                  </a:schemeClr>
                </a:solidFill>
                <a:latin typeface="Times New Roman" panose="02020603050405020304" pitchFamily="18" charset="0"/>
                <a:cs typeface="Times New Roman" panose="02020603050405020304" pitchFamily="18" charset="0"/>
              </a:rPr>
              <a:t>[7]</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Kasongo, S. M. and Sun, Y., “Performance analysis of machine learning techniques for intrusion detection,” </a:t>
            </a:r>
            <a:r>
              <a:rPr lang="en-IN" sz="1200" i="1" dirty="0">
                <a:solidFill>
                  <a:schemeClr val="bg1">
                    <a:lumMod val="95000"/>
                    <a:lumOff val="5000"/>
                  </a:schemeClr>
                </a:solidFill>
                <a:latin typeface="Times New Roman" panose="02020603050405020304" pitchFamily="18" charset="0"/>
                <a:cs typeface="Times New Roman" panose="02020603050405020304" pitchFamily="18" charset="0"/>
              </a:rPr>
              <a:t>IEEE Transactions on Sustainable Computing</a:t>
            </a:r>
            <a:r>
              <a:rPr lang="en-IN" sz="1200" dirty="0">
                <a:solidFill>
                  <a:schemeClr val="bg1">
                    <a:lumMod val="95000"/>
                    <a:lumOff val="5000"/>
                  </a:schemeClr>
                </a:solidFill>
                <a:latin typeface="Times New Roman" panose="02020603050405020304" pitchFamily="18" charset="0"/>
                <a:cs typeface="Times New Roman" panose="02020603050405020304" pitchFamily="18" charset="0"/>
              </a:rPr>
              <a:t>, vol. 7, no. 2, pp. 203–216, 2025.</a:t>
            </a:r>
          </a:p>
        </p:txBody>
      </p:sp>
    </p:spTree>
    <p:extLst>
      <p:ext uri="{BB962C8B-B14F-4D97-AF65-F5344CB8AC3E}">
        <p14:creationId xmlns:p14="http://schemas.microsoft.com/office/powerpoint/2010/main" val="2697745902"/>
      </p:ext>
    </p:extLst>
  </p:cSld>
  <p:clrMapOvr>
    <a:masterClrMapping/>
  </p:clrMapOvr>
  <p:transition/>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1159</TotalTime>
  <Words>1799</Words>
  <Application>Microsoft Office PowerPoint</Application>
  <PresentationFormat>On-screen Show (16:9)</PresentationFormat>
  <Paragraphs>337</Paragraphs>
  <Slides>20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Brush Script MT</vt:lpstr>
      <vt:lpstr>Calibri</vt:lpstr>
      <vt:lpstr>Franklin Gothic Book</vt:lpstr>
      <vt:lpstr>Times New Roman</vt:lpstr>
      <vt:lpstr>Wingdings</vt:lpstr>
      <vt:lpstr>Wingdings 2</vt:lpstr>
      <vt:lpstr>Technic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sriram mulukuntla</cp:lastModifiedBy>
  <cp:revision>78</cp:revision>
  <dcterms:created xsi:type="dcterms:W3CDTF">2020-03-26T10:04:51Z</dcterms:created>
  <dcterms:modified xsi:type="dcterms:W3CDTF">2026-04-06T16:15:17Z</dcterms:modified>
</cp:coreProperties>
</file>